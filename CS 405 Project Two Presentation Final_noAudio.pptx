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2"/>
  </p:notesMasterIdLst>
  <p:sldIdLst>
    <p:sldId id="256" r:id="rId5"/>
    <p:sldId id="257" r:id="rId6"/>
    <p:sldId id="258" r:id="rId7"/>
    <p:sldId id="259" r:id="rId8"/>
    <p:sldId id="260" r:id="rId9"/>
    <p:sldId id="261" r:id="rId10"/>
    <p:sldId id="262" r:id="rId11"/>
    <p:sldId id="263" r:id="rId12"/>
    <p:sldId id="270" r:id="rId13"/>
    <p:sldId id="271" r:id="rId14"/>
    <p:sldId id="272" r:id="rId15"/>
    <p:sldId id="264" r:id="rId16"/>
    <p:sldId id="265" r:id="rId17"/>
    <p:sldId id="266" r:id="rId18"/>
    <p:sldId id="267" r:id="rId19"/>
    <p:sldId id="268" r:id="rId20"/>
    <p:sldId id="269" r:id="rId21"/>
  </p:sldIdLst>
  <p:sldSz cx="12192000" cy="6858000"/>
  <p:notesSz cx="6858000" cy="9144000"/>
  <p:embeddedFontLst>
    <p:embeddedFont>
      <p:font typeface="Century Gothic" panose="020B0502020202020204" pitchFamily="34" charset="0"/>
      <p:regular r:id="rId23"/>
      <p:bold r:id="rId24"/>
      <p:italic r:id="rId25"/>
      <p:boldItalic r:id="rId26"/>
    </p:embeddedFont>
  </p:embeddedFontLst>
  <p:custDataLst>
    <p:tags r:id="rId27"/>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8"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364914-B66D-4F4F-B64E-D58383729D4C}" v="1" dt="2026-06-22T19:22:42.155"/>
  </p1510:revLst>
</p1510:revInfo>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4.fntdata"/><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3.fntdata"/><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2.fntdata"/><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1.fntdata"/><Relationship Id="rId28" Type="http://customschemas.google.com/relationships/presentationmetadata" Target="meta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gs" Target="tags/tag1.xml"/><Relationship Id="rId30" Type="http://schemas.openxmlformats.org/officeDocument/2006/relationships/viewProps" Target="view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2215C460-5B1F-9450-F4F7-146668FFB116}"/>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B70D467F-D647-7B94-4C8B-C2F31EB912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93" name="Google Shape;193;g9504e29505_0_0:notes">
            <a:extLst>
              <a:ext uri="{FF2B5EF4-FFF2-40B4-BE49-F238E27FC236}">
                <a16:creationId xmlns:a16="http://schemas.microsoft.com/office/drawing/2014/main" id="{186BF080-8DC3-4657-FDEA-7FB0470CBE9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634580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F632DB3E-1F2C-1300-4BF7-77EF97FA1F4E}"/>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F50F551C-80A4-F298-AFA4-B62C98A2EB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93" name="Google Shape;193;g9504e29505_0_0:notes">
            <a:extLst>
              <a:ext uri="{FF2B5EF4-FFF2-40B4-BE49-F238E27FC236}">
                <a16:creationId xmlns:a16="http://schemas.microsoft.com/office/drawing/2014/main" id="{67768F60-B928-0558-DB79-52F3CCE2931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663541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0C90C428-EB6B-48B8-2CFA-F48BCF758096}"/>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2B2ABA63-7823-3631-7D58-D56CB630F6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93" name="Google Shape;193;g9504e29505_0_0:notes">
            <a:extLst>
              <a:ext uri="{FF2B5EF4-FFF2-40B4-BE49-F238E27FC236}">
                <a16:creationId xmlns:a16="http://schemas.microsoft.com/office/drawing/2014/main" id="{FA85EF89-C001-07DA-2AEF-D9E9E3EBEA5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014932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5" Type="http://schemas.openxmlformats.org/officeDocument/2006/relationships/image" Target="../media/image5.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5.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 Id="rId5" Type="http://schemas.openxmlformats.org/officeDocument/2006/relationships/image" Target="../media/image5.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 Id="rId5" Type="http://schemas.openxmlformats.org/officeDocument/2006/relationships/image" Target="../media/image5.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 Id="rId5" Type="http://schemas.openxmlformats.org/officeDocument/2006/relationships/image" Target="../media/image3.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7.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18.xml"/><Relationship Id="rId6" Type="http://schemas.openxmlformats.org/officeDocument/2006/relationships/hyperlink" Target="https://owasp.org/www-project-top-ten/" TargetMode="External"/><Relationship Id="rId5" Type="http://schemas.openxmlformats.org/officeDocument/2006/relationships/hyperlink" Target="https://www.google.com/search?q=https://learn.microsoft.com/en-us/visualstudio/test/unit-testing-cpp-with-visual-cpp" TargetMode="External"/><Relationship Id="rId4" Type="http://schemas.openxmlformats.org/officeDocument/2006/relationships/hyperlink" Target="https://www.google.com/search?q=https://wiki.sei.cmu.edu/confluence/display/cplusplu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dirty="0"/>
              <a:t>Security Policy Presentation</a:t>
            </a:r>
            <a:endParaRPr dirty="0"/>
          </a:p>
          <a:p>
            <a:pPr marL="0" lvl="0" indent="0" algn="l" rtl="0">
              <a:lnSpc>
                <a:spcPct val="70000"/>
              </a:lnSpc>
              <a:spcBef>
                <a:spcPts val="1000"/>
              </a:spcBef>
              <a:spcAft>
                <a:spcPts val="0"/>
              </a:spcAft>
              <a:buClr>
                <a:schemeClr val="lt1"/>
              </a:buClr>
              <a:buSzPts val="1850"/>
              <a:buNone/>
            </a:pPr>
            <a:r>
              <a:rPr lang="en-US" sz="1850" dirty="0"/>
              <a:t>Developer: </a:t>
            </a:r>
            <a:r>
              <a:rPr lang="en-US" sz="1850" i="1" dirty="0"/>
              <a:t>Caleb Sorell</a:t>
            </a:r>
            <a:endParaRPr sz="1850" i="1" dirty="0"/>
          </a:p>
        </p:txBody>
      </p:sp>
      <p:pic>
        <p:nvPicPr>
          <p:cNvPr id="146" name="Google Shape;146;p1" descr="Green Pace logo"/>
          <p:cNvPicPr preferRelativeResize="0"/>
          <p:nvPr/>
        </p:nvPicPr>
        <p:blipFill>
          <a:blip r:embed="rId4">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3384">
        <p159:morph option="byObject"/>
      </p:transition>
    </mc:Choice>
    <mc:Fallback xmlns="">
      <p:transition spd="slow" advTm="33384">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916774" y="589551"/>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OVERVIEW: DEFENSE IN DEPTH</a:t>
            </a:r>
            <a:endParaRPr dirty="0"/>
          </a:p>
        </p:txBody>
      </p:sp>
      <p:sp>
        <p:nvSpPr>
          <p:cNvPr id="152" name="Google Shape;152;p3"/>
          <p:cNvSpPr txBox="1">
            <a:spLocks noGrp="1"/>
          </p:cNvSpPr>
          <p:nvPr>
            <p:ph type="body" idx="1"/>
          </p:nvPr>
        </p:nvSpPr>
        <p:spPr>
          <a:xfrm>
            <a:off x="706974" y="1409730"/>
            <a:ext cx="10820400" cy="4024125"/>
          </a:xfrm>
          <a:prstGeom prst="rect">
            <a:avLst/>
          </a:prstGeom>
          <a:noFill/>
          <a:ln>
            <a:noFill/>
          </a:ln>
        </p:spPr>
        <p:txBody>
          <a:bodyPr spcFirstLastPara="1" wrap="square" lIns="91425" tIns="45700" rIns="91425" bIns="45700" anchor="t" anchorCtr="0">
            <a:normAutofit/>
          </a:bodyPr>
          <a:lstStyle/>
          <a:p>
            <a:pPr marL="342900">
              <a:buSzPts val="2200"/>
            </a:pPr>
            <a:r>
              <a:rPr lang="en-US" b="1" dirty="0"/>
              <a:t>Primary Goal: </a:t>
            </a:r>
            <a:r>
              <a:rPr lang="en-US" dirty="0"/>
              <a:t>Transition Green Pace to a DevSecOps environment to prepare for our upcoming security audit.  </a:t>
            </a:r>
          </a:p>
          <a:p>
            <a:pPr marL="342900">
              <a:buSzPts val="2200"/>
            </a:pPr>
            <a:r>
              <a:rPr lang="en-US" b="1" dirty="0"/>
              <a:t>Core Strategy:  </a:t>
            </a:r>
            <a:r>
              <a:rPr lang="en-US" dirty="0"/>
              <a:t>Implement a comprehensive “Defense in Depth” architecture.</a:t>
            </a:r>
          </a:p>
          <a:p>
            <a:pPr marL="342900">
              <a:buSzPts val="2200"/>
            </a:pPr>
            <a:r>
              <a:rPr lang="en-US" dirty="0"/>
              <a:t> </a:t>
            </a:r>
            <a:r>
              <a:rPr lang="en-US" b="1" dirty="0"/>
              <a:t>Implementation: </a:t>
            </a:r>
            <a:r>
              <a:rPr lang="en-US" dirty="0"/>
              <a:t>Layer security continuously from the physical network perimeter down into the application code, ensuring redundant protections.</a:t>
            </a:r>
            <a:endParaRPr b="1" dirty="0"/>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a:alphaModFix/>
          </a:blip>
          <a:srcRect/>
          <a:stretch/>
        </p:blipFill>
        <p:spPr>
          <a:xfrm>
            <a:off x="2350008" y="3648456"/>
            <a:ext cx="7580376" cy="3209543"/>
          </a:xfrm>
          <a:prstGeom prst="rect">
            <a:avLst/>
          </a:prstGeom>
          <a:noFill/>
          <a:ln>
            <a:noFill/>
          </a:ln>
        </p:spPr>
      </p:pic>
      <p:pic>
        <p:nvPicPr>
          <p:cNvPr id="154" name="Google Shape;154;p3"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40948">
        <p159:morph option="byObject"/>
      </p:transition>
    </mc:Choice>
    <mc:Fallback xmlns="">
      <p:transition spd="slow" advTm="40948">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THREATS MATRIX</a:t>
            </a:r>
            <a:endParaRPr/>
          </a:p>
        </p:txBody>
      </p:sp>
      <p:graphicFrame>
        <p:nvGraphicFramePr>
          <p:cNvPr id="161" name="Google Shape;161;p4" descr="Alt text required"/>
          <p:cNvGraphicFramePr/>
          <p:nvPr>
            <p:extLst>
              <p:ext uri="{D42A27DB-BD31-4B8C-83A1-F6EECF244321}">
                <p14:modId xmlns:p14="http://schemas.microsoft.com/office/powerpoint/2010/main" val="1944587087"/>
              </p:ext>
            </p:extLst>
          </p:nvPr>
        </p:nvGraphicFramePr>
        <p:xfrm>
          <a:off x="3210374" y="2194550"/>
          <a:ext cx="7835225" cy="4389060"/>
        </p:xfrm>
        <a:graphic>
          <a:graphicData uri="http://schemas.openxmlformats.org/drawingml/2006/table">
            <a:tbl>
              <a:tblPr firstRow="1" firstCol="1">
                <a:noFill/>
                <a:tableStyleId>{802198C4-3087-4945-87E3-76CBB3509B7E}</a:tableStyleId>
              </a:tblPr>
              <a:tblGrid>
                <a:gridCol w="4030425">
                  <a:extLst>
                    <a:ext uri="{9D8B030D-6E8A-4147-A177-3AD203B41FA5}">
                      <a16:colId xmlns:a16="http://schemas.microsoft.com/office/drawing/2014/main" val="20000"/>
                    </a:ext>
                  </a:extLst>
                </a:gridCol>
                <a:gridCol w="3804800">
                  <a:extLst>
                    <a:ext uri="{9D8B030D-6E8A-4147-A177-3AD203B41FA5}">
                      <a16:colId xmlns:a16="http://schemas.microsoft.com/office/drawing/2014/main" val="20001"/>
                    </a:ext>
                  </a:extLst>
                </a:gridCol>
              </a:tblGrid>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chemeClr val="tx1"/>
                          </a:solidFill>
                        </a:rPr>
                        <a:t>Likely</a:t>
                      </a:r>
                      <a:endParaRPr sz="1400" u="none" strike="noStrike" cap="none" dirty="0">
                        <a:solidFill>
                          <a:schemeClr val="tx1"/>
                        </a:solidFill>
                      </a:endParaRPr>
                    </a:p>
                    <a:p>
                      <a:pPr marL="0" marR="0" lvl="0" indent="0" algn="ctr" rtl="0">
                        <a:lnSpc>
                          <a:spcPct val="100000"/>
                        </a:lnSpc>
                        <a:spcBef>
                          <a:spcPts val="0"/>
                        </a:spcBef>
                        <a:spcAft>
                          <a:spcPts val="0"/>
                        </a:spcAft>
                        <a:buClr>
                          <a:srgbClr val="000000"/>
                        </a:buClr>
                        <a:buSzPts val="3600"/>
                        <a:buFont typeface="Arial"/>
                        <a:buNone/>
                      </a:pPr>
                      <a:r>
                        <a:rPr lang="en-US" sz="1600" b="1" u="none" strike="noStrike" cap="none" dirty="0">
                          <a:solidFill>
                            <a:schemeClr val="tx1"/>
                          </a:solidFill>
                        </a:rPr>
                        <a:t>Catching Exceptions by Value (STD-007): </a:t>
                      </a:r>
                      <a:r>
                        <a:rPr lang="en-US" sz="1600" b="0" u="none" strike="noStrike" cap="none" dirty="0">
                          <a:solidFill>
                            <a:schemeClr val="tx1"/>
                          </a:solidFill>
                        </a:rPr>
                        <a:t>High Likelihood + Medium Severity. It is very common for developers to make this minor syntax error, resulting in the loss of valuable logging data.</a:t>
                      </a:r>
                      <a:endParaRPr sz="1600" b="1" u="none" strike="noStrike" cap="none" dirty="0">
                        <a:solidFill>
                          <a:schemeClr val="tx1"/>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chemeClr val="tx1"/>
                          </a:solidFill>
                        </a:rPr>
                        <a:t>Priority</a:t>
                      </a:r>
                      <a:endParaRPr sz="1400" u="none" strike="noStrike" cap="none" dirty="0">
                        <a:solidFill>
                          <a:schemeClr val="tx1"/>
                        </a:solidFill>
                      </a:endParaRPr>
                    </a:p>
                    <a:p>
                      <a:pPr marL="0" marR="0" lvl="0" indent="0" algn="ctr" rtl="0">
                        <a:lnSpc>
                          <a:spcPct val="100000"/>
                        </a:lnSpc>
                        <a:spcBef>
                          <a:spcPts val="0"/>
                        </a:spcBef>
                        <a:spcAft>
                          <a:spcPts val="0"/>
                        </a:spcAft>
                        <a:buClr>
                          <a:srgbClr val="000000"/>
                        </a:buClr>
                        <a:buSzPts val="3600"/>
                        <a:buFont typeface="Arial"/>
                        <a:buNone/>
                      </a:pPr>
                      <a:r>
                        <a:rPr lang="en-US" sz="1600" b="1" u="none" strike="noStrike" cap="none" dirty="0">
                          <a:solidFill>
                            <a:schemeClr val="tx1"/>
                          </a:solidFill>
                        </a:rPr>
                        <a:t>SQL Injections (STD-004): </a:t>
                      </a:r>
                      <a:r>
                        <a:rPr lang="en-US" sz="1600" u="none" strike="noStrike" cap="none" dirty="0">
                          <a:solidFill>
                            <a:schemeClr val="tx1"/>
                          </a:solidFill>
                        </a:rPr>
                        <a:t>High Likelihood + Critical Severity. These are actively targeted by attackers and result in catastrophic database loss. This is our absolute highest priority for automation.</a:t>
                      </a:r>
                      <a:endParaRPr sz="1600" u="none" strike="noStrike" cap="none" dirty="0">
                        <a:solidFill>
                          <a:schemeClr val="tx1"/>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chemeClr val="tx1"/>
                          </a:solidFill>
                        </a:rPr>
                        <a:t>Low priority</a:t>
                      </a:r>
                      <a:endParaRPr sz="1400" u="none" strike="noStrike" cap="none" dirty="0">
                        <a:solidFill>
                          <a:schemeClr val="tx1"/>
                        </a:solidFill>
                      </a:endParaRPr>
                    </a:p>
                    <a:p>
                      <a:pPr marL="0" marR="0" lvl="0" indent="0" algn="ctr" rtl="0">
                        <a:lnSpc>
                          <a:spcPct val="100000"/>
                        </a:lnSpc>
                        <a:spcBef>
                          <a:spcPts val="0"/>
                        </a:spcBef>
                        <a:spcAft>
                          <a:spcPts val="0"/>
                        </a:spcAft>
                        <a:buClr>
                          <a:srgbClr val="000000"/>
                        </a:buClr>
                        <a:buSzPts val="3600"/>
                        <a:buFont typeface="Arial"/>
                        <a:buNone/>
                      </a:pPr>
                      <a:r>
                        <a:rPr lang="en-US" sz="1600" b="1" u="none" strike="noStrike" cap="none" dirty="0">
                          <a:solidFill>
                            <a:schemeClr val="tx1"/>
                          </a:solidFill>
                        </a:rPr>
                        <a:t>Assertions with Side Effects (STD-006): </a:t>
                      </a:r>
                      <a:r>
                        <a:rPr lang="en-US" sz="1600" b="0" u="none" strike="noStrike" cap="none" dirty="0">
                          <a:solidFill>
                            <a:schemeClr val="tx1"/>
                          </a:solidFill>
                        </a:rPr>
                        <a:t>Low Likelihood + Medium Severity. This is a rare logic error that usually just breaks local application state rather than exposing user data to hackers.</a:t>
                      </a:r>
                      <a:endParaRPr sz="1600" b="1" u="none" strike="noStrike" cap="none" dirty="0">
                        <a:solidFill>
                          <a:schemeClr val="tx1"/>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chemeClr val="tx1"/>
                          </a:solidFill>
                        </a:rPr>
                        <a:t>Unlikely</a:t>
                      </a:r>
                    </a:p>
                    <a:p>
                      <a:pPr marL="0" marR="0" lvl="0" indent="0" algn="ctr" rtl="0">
                        <a:lnSpc>
                          <a:spcPct val="100000"/>
                        </a:lnSpc>
                        <a:spcBef>
                          <a:spcPts val="0"/>
                        </a:spcBef>
                        <a:spcAft>
                          <a:spcPts val="0"/>
                        </a:spcAft>
                        <a:buClr>
                          <a:srgbClr val="000000"/>
                        </a:buClr>
                        <a:buSzPts val="3600"/>
                        <a:buFont typeface="Arial"/>
                        <a:buNone/>
                      </a:pPr>
                      <a:r>
                        <a:rPr lang="en-US" sz="1600" b="1" u="none" strike="noStrike" cap="none" dirty="0">
                          <a:solidFill>
                            <a:schemeClr val="tx1"/>
                          </a:solidFill>
                        </a:rPr>
                        <a:t>Accessing Freed Memory (STD-005): Low Likelihood + Critical Severity. </a:t>
                      </a:r>
                      <a:r>
                        <a:rPr lang="en-US" sz="1600" b="0" u="none" strike="noStrike" cap="none" dirty="0">
                          <a:solidFill>
                            <a:schemeClr val="tx1"/>
                          </a:solidFill>
                        </a:rPr>
                        <a:t>While a “Use-After-Free” attack is devastating, modern C++ practices make it highly unlikely to slip into production.</a:t>
                      </a:r>
                      <a:endParaRPr lang="en-US" sz="1600" b="1" u="none" strike="noStrike" cap="none" dirty="0">
                        <a:solidFill>
                          <a:schemeClr val="tx1"/>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51324">
        <p159:morph option="byObject"/>
      </p:transition>
    </mc:Choice>
    <mc:Fallback xmlns="">
      <p:transition spd="slow" advTm="51324">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10 PRINCIPLES</a:t>
            </a:r>
            <a:endParaRPr dirty="0"/>
          </a:p>
        </p:txBody>
      </p:sp>
      <p:sp>
        <p:nvSpPr>
          <p:cNvPr id="168" name="Google Shape;168;p5"/>
          <p:cNvSpPr txBox="1">
            <a:spLocks noGrp="1"/>
          </p:cNvSpPr>
          <p:nvPr>
            <p:ph type="body" idx="1"/>
          </p:nvPr>
        </p:nvSpPr>
        <p:spPr>
          <a:xfrm>
            <a:off x="685800" y="1874520"/>
            <a:ext cx="10222992" cy="4715231"/>
          </a:xfrm>
          <a:prstGeom prst="rect">
            <a:avLst/>
          </a:prstGeom>
          <a:noFill/>
          <a:ln>
            <a:noFill/>
          </a:ln>
        </p:spPr>
        <p:txBody>
          <a:bodyPr spcFirstLastPara="1" wrap="square" lIns="91425" tIns="45700" rIns="91425" bIns="45700" anchor="t" anchorCtr="0">
            <a:normAutofit fontScale="25000" lnSpcReduction="20000"/>
          </a:bodyPr>
          <a:lstStyle/>
          <a:p>
            <a:pPr lvl="0" indent="-457200" algn="l" rtl="0">
              <a:lnSpc>
                <a:spcPct val="90000"/>
              </a:lnSpc>
              <a:spcBef>
                <a:spcPts val="0"/>
              </a:spcBef>
              <a:spcAft>
                <a:spcPts val="0"/>
              </a:spcAft>
              <a:buClr>
                <a:schemeClr val="lt1"/>
              </a:buClr>
              <a:buSzPts val="2200"/>
              <a:buFont typeface="+mj-lt"/>
              <a:buAutoNum type="arabicPeriod"/>
            </a:pPr>
            <a:r>
              <a:rPr lang="en-US" sz="7200" b="1" dirty="0"/>
              <a:t>Validate Input Data: </a:t>
            </a:r>
            <a:r>
              <a:rPr lang="en-US" sz="7200" dirty="0"/>
              <a:t>Supported by STD-003 (Strings) and STD-004 (SQL Injections).</a:t>
            </a:r>
          </a:p>
          <a:p>
            <a:pPr lvl="0" indent="-457200" algn="l" rtl="0">
              <a:lnSpc>
                <a:spcPct val="90000"/>
              </a:lnSpc>
              <a:spcBef>
                <a:spcPts val="0"/>
              </a:spcBef>
              <a:spcAft>
                <a:spcPts val="0"/>
              </a:spcAft>
              <a:buClr>
                <a:schemeClr val="lt1"/>
              </a:buClr>
              <a:buSzPts val="2200"/>
              <a:buFont typeface="+mj-lt"/>
              <a:buAutoNum type="arabicPeriod"/>
            </a:pPr>
            <a:endParaRPr lang="en-US" sz="7200" b="1" dirty="0"/>
          </a:p>
          <a:p>
            <a:pPr lvl="0" indent="-457200" algn="l" rtl="0">
              <a:lnSpc>
                <a:spcPct val="90000"/>
              </a:lnSpc>
              <a:spcBef>
                <a:spcPts val="0"/>
              </a:spcBef>
              <a:spcAft>
                <a:spcPts val="0"/>
              </a:spcAft>
              <a:buClr>
                <a:schemeClr val="lt1"/>
              </a:buClr>
              <a:buSzPts val="2200"/>
              <a:buFont typeface="+mj-lt"/>
              <a:buAutoNum type="arabicPeriod"/>
            </a:pPr>
            <a:r>
              <a:rPr lang="en-US" sz="7200" b="1" dirty="0"/>
              <a:t>Heed Compiler Warnings: </a:t>
            </a:r>
            <a:r>
              <a:rPr lang="en-US" sz="7200" dirty="0"/>
              <a:t>Supported by STD-001 (Type Conversions) and STD-008 (Uninitialized Variables).</a:t>
            </a:r>
          </a:p>
          <a:p>
            <a:pPr lvl="0" indent="-457200" algn="l" rtl="0">
              <a:lnSpc>
                <a:spcPct val="90000"/>
              </a:lnSpc>
              <a:spcBef>
                <a:spcPts val="0"/>
              </a:spcBef>
              <a:spcAft>
                <a:spcPts val="0"/>
              </a:spcAft>
              <a:buClr>
                <a:schemeClr val="lt1"/>
              </a:buClr>
              <a:buSzPts val="2200"/>
              <a:buFont typeface="+mj-lt"/>
              <a:buAutoNum type="arabicPeriod"/>
            </a:pPr>
            <a:endParaRPr lang="en-US" sz="7200" b="1" dirty="0"/>
          </a:p>
          <a:p>
            <a:pPr lvl="0" indent="-457200" algn="l" rtl="0">
              <a:lnSpc>
                <a:spcPct val="90000"/>
              </a:lnSpc>
              <a:spcBef>
                <a:spcPts val="0"/>
              </a:spcBef>
              <a:spcAft>
                <a:spcPts val="0"/>
              </a:spcAft>
              <a:buClr>
                <a:schemeClr val="lt1"/>
              </a:buClr>
              <a:buSzPts val="2200"/>
              <a:buFont typeface="+mj-lt"/>
              <a:buAutoNum type="arabicPeriod"/>
            </a:pPr>
            <a:r>
              <a:rPr lang="en-US" sz="7200" b="1" dirty="0"/>
              <a:t>Architect and Design for Security: </a:t>
            </a:r>
            <a:r>
              <a:rPr lang="en-US" sz="7200" dirty="0"/>
              <a:t>Supported by STD-007 (Exceptions) and STD-009 (Race Conditions).</a:t>
            </a:r>
          </a:p>
          <a:p>
            <a:pPr lvl="0" indent="-457200" algn="l" rtl="0">
              <a:lnSpc>
                <a:spcPct val="90000"/>
              </a:lnSpc>
              <a:spcBef>
                <a:spcPts val="0"/>
              </a:spcBef>
              <a:spcAft>
                <a:spcPts val="0"/>
              </a:spcAft>
              <a:buClr>
                <a:schemeClr val="lt1"/>
              </a:buClr>
              <a:buSzPts val="2200"/>
              <a:buFont typeface="+mj-lt"/>
              <a:buAutoNum type="arabicPeriod"/>
            </a:pPr>
            <a:endParaRPr lang="en-US" sz="7200" b="1" dirty="0"/>
          </a:p>
          <a:p>
            <a:pPr lvl="0" indent="-457200" algn="l" rtl="0">
              <a:lnSpc>
                <a:spcPct val="90000"/>
              </a:lnSpc>
              <a:spcBef>
                <a:spcPts val="0"/>
              </a:spcBef>
              <a:spcAft>
                <a:spcPts val="0"/>
              </a:spcAft>
              <a:buClr>
                <a:schemeClr val="lt1"/>
              </a:buClr>
              <a:buSzPts val="2200"/>
              <a:buFont typeface="+mj-lt"/>
              <a:buAutoNum type="arabicPeriod"/>
            </a:pPr>
            <a:r>
              <a:rPr lang="en-US" sz="7200" b="1" dirty="0"/>
              <a:t>Keep it Simple: </a:t>
            </a:r>
            <a:r>
              <a:rPr lang="en-US" sz="7200" dirty="0"/>
              <a:t>Supported by STD-006 (Assertions).</a:t>
            </a:r>
          </a:p>
          <a:p>
            <a:pPr lvl="0" indent="-457200" algn="l" rtl="0">
              <a:lnSpc>
                <a:spcPct val="90000"/>
              </a:lnSpc>
              <a:spcBef>
                <a:spcPts val="0"/>
              </a:spcBef>
              <a:spcAft>
                <a:spcPts val="0"/>
              </a:spcAft>
              <a:buClr>
                <a:schemeClr val="lt1"/>
              </a:buClr>
              <a:buSzPts val="2200"/>
              <a:buFont typeface="+mj-lt"/>
              <a:buAutoNum type="arabicPeriod"/>
            </a:pPr>
            <a:endParaRPr lang="en-US" sz="7200" b="1" dirty="0"/>
          </a:p>
          <a:p>
            <a:pPr lvl="0" indent="-457200" algn="l" rtl="0">
              <a:lnSpc>
                <a:spcPct val="90000"/>
              </a:lnSpc>
              <a:spcBef>
                <a:spcPts val="0"/>
              </a:spcBef>
              <a:spcAft>
                <a:spcPts val="0"/>
              </a:spcAft>
              <a:buClr>
                <a:schemeClr val="lt1"/>
              </a:buClr>
              <a:buSzPts val="2200"/>
              <a:buFont typeface="+mj-lt"/>
              <a:buAutoNum type="arabicPeriod"/>
            </a:pPr>
            <a:r>
              <a:rPr lang="en-US" sz="7200" b="1" dirty="0"/>
              <a:t>Default Deny: </a:t>
            </a:r>
            <a:r>
              <a:rPr lang="en-US" sz="7200" dirty="0"/>
              <a:t>Supported by STD-010 (Error Logging – failing into a secure state).</a:t>
            </a:r>
          </a:p>
          <a:p>
            <a:pPr lvl="0" indent="-457200" algn="l" rtl="0">
              <a:lnSpc>
                <a:spcPct val="90000"/>
              </a:lnSpc>
              <a:spcBef>
                <a:spcPts val="0"/>
              </a:spcBef>
              <a:spcAft>
                <a:spcPts val="0"/>
              </a:spcAft>
              <a:buClr>
                <a:schemeClr val="lt1"/>
              </a:buClr>
              <a:buSzPts val="2200"/>
              <a:buFont typeface="+mj-lt"/>
              <a:buAutoNum type="arabicPeriod"/>
            </a:pPr>
            <a:endParaRPr lang="en-US" sz="7200" b="1" dirty="0"/>
          </a:p>
          <a:p>
            <a:pPr lvl="0" indent="-457200" algn="l" rtl="0">
              <a:lnSpc>
                <a:spcPct val="90000"/>
              </a:lnSpc>
              <a:spcBef>
                <a:spcPts val="0"/>
              </a:spcBef>
              <a:spcAft>
                <a:spcPts val="0"/>
              </a:spcAft>
              <a:buClr>
                <a:schemeClr val="lt1"/>
              </a:buClr>
              <a:buSzPts val="2200"/>
              <a:buFont typeface="+mj-lt"/>
              <a:buAutoNum type="arabicPeriod"/>
            </a:pPr>
            <a:r>
              <a:rPr lang="en-US" sz="7200" b="1" dirty="0"/>
              <a:t>Principle of Least Privilege: </a:t>
            </a:r>
            <a:r>
              <a:rPr lang="en-US" sz="7200" dirty="0"/>
              <a:t>Supported by STD-005 (Strict Memory Protection).</a:t>
            </a:r>
          </a:p>
          <a:p>
            <a:pPr lvl="0" indent="-457200" algn="l" rtl="0">
              <a:lnSpc>
                <a:spcPct val="90000"/>
              </a:lnSpc>
              <a:spcBef>
                <a:spcPts val="0"/>
              </a:spcBef>
              <a:spcAft>
                <a:spcPts val="0"/>
              </a:spcAft>
              <a:buClr>
                <a:schemeClr val="lt1"/>
              </a:buClr>
              <a:buSzPts val="2200"/>
              <a:buFont typeface="+mj-lt"/>
              <a:buAutoNum type="arabicPeriod"/>
            </a:pPr>
            <a:endParaRPr lang="en-US" sz="7200" b="1" dirty="0"/>
          </a:p>
          <a:p>
            <a:pPr lvl="0" indent="-457200" algn="l" rtl="0">
              <a:lnSpc>
                <a:spcPct val="90000"/>
              </a:lnSpc>
              <a:spcBef>
                <a:spcPts val="0"/>
              </a:spcBef>
              <a:spcAft>
                <a:spcPts val="0"/>
              </a:spcAft>
              <a:buClr>
                <a:schemeClr val="lt1"/>
              </a:buClr>
              <a:buSzPts val="2200"/>
              <a:buFont typeface="+mj-lt"/>
              <a:buAutoNum type="arabicPeriod"/>
            </a:pPr>
            <a:r>
              <a:rPr lang="en-US" sz="7200" b="1" dirty="0"/>
              <a:t>Sanitize Data Sent to Other Systems: </a:t>
            </a:r>
            <a:r>
              <a:rPr lang="en-US" sz="7200" dirty="0"/>
              <a:t>Supported by STD-004 (Parametrizing Database Queries).</a:t>
            </a:r>
          </a:p>
          <a:p>
            <a:pPr lvl="0" indent="-457200" algn="l" rtl="0">
              <a:lnSpc>
                <a:spcPct val="90000"/>
              </a:lnSpc>
              <a:spcBef>
                <a:spcPts val="0"/>
              </a:spcBef>
              <a:spcAft>
                <a:spcPts val="0"/>
              </a:spcAft>
              <a:buClr>
                <a:schemeClr val="lt1"/>
              </a:buClr>
              <a:buSzPts val="2200"/>
              <a:buFont typeface="+mj-lt"/>
              <a:buAutoNum type="arabicPeriod"/>
            </a:pPr>
            <a:endParaRPr lang="en-US" sz="7200" b="1" dirty="0"/>
          </a:p>
          <a:p>
            <a:pPr lvl="0" indent="-457200" algn="l" rtl="0">
              <a:lnSpc>
                <a:spcPct val="90000"/>
              </a:lnSpc>
              <a:spcBef>
                <a:spcPts val="0"/>
              </a:spcBef>
              <a:spcAft>
                <a:spcPts val="0"/>
              </a:spcAft>
              <a:buClr>
                <a:schemeClr val="lt1"/>
              </a:buClr>
              <a:buSzPts val="2200"/>
              <a:buFont typeface="+mj-lt"/>
              <a:buAutoNum type="arabicPeriod"/>
            </a:pPr>
            <a:r>
              <a:rPr lang="en-US" sz="7200" b="1" dirty="0"/>
              <a:t>Practice Defense in Depth: </a:t>
            </a:r>
            <a:r>
              <a:rPr lang="en-US" sz="7200" dirty="0"/>
              <a:t>Supported by STD-002 (Integer Bounds) and STD-010 (Secondary Logging).</a:t>
            </a:r>
          </a:p>
          <a:p>
            <a:pPr lvl="0" indent="-457200" algn="l" rtl="0">
              <a:lnSpc>
                <a:spcPct val="90000"/>
              </a:lnSpc>
              <a:spcBef>
                <a:spcPts val="0"/>
              </a:spcBef>
              <a:spcAft>
                <a:spcPts val="0"/>
              </a:spcAft>
              <a:buClr>
                <a:schemeClr val="lt1"/>
              </a:buClr>
              <a:buSzPts val="2200"/>
              <a:buFont typeface="+mj-lt"/>
              <a:buAutoNum type="arabicPeriod"/>
            </a:pPr>
            <a:endParaRPr lang="en-US" sz="7200" b="1" dirty="0"/>
          </a:p>
          <a:p>
            <a:pPr lvl="0" indent="-457200" algn="l" rtl="0">
              <a:lnSpc>
                <a:spcPct val="90000"/>
              </a:lnSpc>
              <a:spcBef>
                <a:spcPts val="0"/>
              </a:spcBef>
              <a:spcAft>
                <a:spcPts val="0"/>
              </a:spcAft>
              <a:buClr>
                <a:schemeClr val="lt1"/>
              </a:buClr>
              <a:buSzPts val="2200"/>
              <a:buFont typeface="+mj-lt"/>
              <a:buAutoNum type="arabicPeriod"/>
            </a:pPr>
            <a:r>
              <a:rPr lang="en-US" sz="7200" b="1" dirty="0"/>
              <a:t>Use Effective QA Techniques: </a:t>
            </a:r>
            <a:r>
              <a:rPr lang="en-US" sz="7200" dirty="0"/>
              <a:t>Supported by STD-008 and STD-009 (Enforced by automated CI/CD tools).</a:t>
            </a:r>
          </a:p>
          <a:p>
            <a:pPr lvl="0" indent="-457200" algn="l" rtl="0">
              <a:lnSpc>
                <a:spcPct val="90000"/>
              </a:lnSpc>
              <a:spcBef>
                <a:spcPts val="0"/>
              </a:spcBef>
              <a:spcAft>
                <a:spcPts val="0"/>
              </a:spcAft>
              <a:buClr>
                <a:schemeClr val="lt1"/>
              </a:buClr>
              <a:buSzPts val="2200"/>
              <a:buFont typeface="+mj-lt"/>
              <a:buAutoNum type="arabicPeriod"/>
            </a:pPr>
            <a:endParaRPr lang="en-US" sz="7200" b="1" dirty="0"/>
          </a:p>
          <a:p>
            <a:pPr lvl="0" indent="-457200" algn="l" rtl="0">
              <a:lnSpc>
                <a:spcPct val="90000"/>
              </a:lnSpc>
              <a:spcBef>
                <a:spcPts val="0"/>
              </a:spcBef>
              <a:spcAft>
                <a:spcPts val="0"/>
              </a:spcAft>
              <a:buClr>
                <a:schemeClr val="lt1"/>
              </a:buClr>
              <a:buSzPts val="2200"/>
              <a:buFont typeface="+mj-lt"/>
              <a:buAutoNum type="arabicPeriod"/>
            </a:pPr>
            <a:r>
              <a:rPr lang="en-US" sz="7200" b="1" dirty="0"/>
              <a:t>Adopt a Secure Coding Standard: </a:t>
            </a:r>
            <a:r>
              <a:rPr lang="en-US" sz="7200" dirty="0"/>
              <a:t>Supported by full adherence to STD-001 through STD-010.</a:t>
            </a:r>
            <a:endParaRPr lang="en-US" sz="7200" b="1" dirty="0"/>
          </a:p>
          <a:p>
            <a:pPr lvl="0" indent="-457200" algn="l" rtl="0">
              <a:lnSpc>
                <a:spcPct val="90000"/>
              </a:lnSpc>
              <a:spcBef>
                <a:spcPts val="0"/>
              </a:spcBef>
              <a:spcAft>
                <a:spcPts val="0"/>
              </a:spcAft>
              <a:buClr>
                <a:schemeClr val="lt1"/>
              </a:buClr>
              <a:buSzPts val="2200"/>
              <a:buFont typeface="+mj-lt"/>
              <a:buAutoNum type="arabicPeriod"/>
            </a:pPr>
            <a:endParaRPr lang="en-US" sz="7200" dirty="0"/>
          </a:p>
          <a:p>
            <a:pPr marL="228600" lvl="0" indent="-228600" algn="l" rtl="0">
              <a:lnSpc>
                <a:spcPct val="90000"/>
              </a:lnSpc>
              <a:spcBef>
                <a:spcPts val="0"/>
              </a:spcBef>
              <a:spcAft>
                <a:spcPts val="0"/>
              </a:spcAft>
              <a:buClr>
                <a:schemeClr val="lt1"/>
              </a:buClr>
              <a:buSzPts val="2200"/>
              <a:buChar char="•"/>
            </a:pPr>
            <a:endParaRPr b="1" dirty="0"/>
          </a:p>
        </p:txBody>
      </p:sp>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59694">
        <p159:morph option="byObject"/>
      </p:transition>
    </mc:Choice>
    <mc:Fallback xmlns="">
      <p:transition spd="slow" advTm="59694">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CODING STANDARDS</a:t>
            </a:r>
            <a:endParaRPr/>
          </a:p>
        </p:txBody>
      </p:sp>
      <p:sp>
        <p:nvSpPr>
          <p:cNvPr id="175" name="Google Shape;175;p6"/>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lnSpcReduction="10000"/>
          </a:bodyPr>
          <a:lstStyle/>
          <a:p>
            <a:pPr indent="-457200">
              <a:spcBef>
                <a:spcPts val="0"/>
              </a:spcBef>
              <a:buSzPts val="2000"/>
            </a:pPr>
            <a:r>
              <a:rPr lang="en-US" b="1" dirty="0"/>
              <a:t>Priority 1 (Critical – Immediate Action Required):</a:t>
            </a:r>
          </a:p>
          <a:p>
            <a:pPr lvl="1" indent="-457200">
              <a:spcBef>
                <a:spcPts val="0"/>
              </a:spcBef>
              <a:buSzPts val="2000"/>
            </a:pPr>
            <a:r>
              <a:rPr lang="en-US" dirty="0"/>
              <a:t>STD-004: Neutralize SQL Injections</a:t>
            </a:r>
          </a:p>
          <a:p>
            <a:pPr lvl="1" indent="-457200">
              <a:spcBef>
                <a:spcPts val="0"/>
              </a:spcBef>
              <a:buSzPts val="2000"/>
            </a:pPr>
            <a:r>
              <a:rPr lang="en-US" dirty="0"/>
              <a:t>STD-005: Prevent Double-Free Memory Corruptions</a:t>
            </a:r>
          </a:p>
          <a:p>
            <a:pPr marL="342900">
              <a:spcBef>
                <a:spcPts val="0"/>
              </a:spcBef>
              <a:buSzPts val="2000"/>
            </a:pPr>
            <a:endParaRPr lang="en-US" b="1" dirty="0"/>
          </a:p>
          <a:p>
            <a:pPr marL="342900">
              <a:spcBef>
                <a:spcPts val="0"/>
              </a:spcBef>
              <a:buSzPts val="2000"/>
            </a:pPr>
            <a:r>
              <a:rPr lang="en-US" b="1" dirty="0"/>
              <a:t>Priority 2 (High-Fix Before Production):</a:t>
            </a:r>
          </a:p>
          <a:p>
            <a:pPr marL="800100" lvl="1">
              <a:spcBef>
                <a:spcPts val="0"/>
              </a:spcBef>
              <a:buSzPts val="2000"/>
            </a:pPr>
            <a:r>
              <a:rPr lang="en-US" dirty="0"/>
              <a:t>STD-003: String Buffer Limits</a:t>
            </a:r>
          </a:p>
          <a:p>
            <a:pPr marL="800100" lvl="1">
              <a:spcBef>
                <a:spcPts val="0"/>
              </a:spcBef>
              <a:buSzPts val="2000"/>
            </a:pPr>
            <a:r>
              <a:rPr lang="en-US" dirty="0"/>
              <a:t>STD-002: Integer Overflow/Underflow</a:t>
            </a:r>
          </a:p>
          <a:p>
            <a:pPr marL="800100" lvl="1">
              <a:spcBef>
                <a:spcPts val="0"/>
              </a:spcBef>
              <a:buSzPts val="2000"/>
            </a:pPr>
            <a:r>
              <a:rPr lang="en-US" dirty="0"/>
              <a:t>STD-009: Avoid Race Conditions</a:t>
            </a:r>
          </a:p>
          <a:p>
            <a:pPr marL="800100" lvl="1">
              <a:spcBef>
                <a:spcPts val="0"/>
              </a:spcBef>
              <a:buSzPts val="2000"/>
            </a:pPr>
            <a:r>
              <a:rPr lang="en-US" dirty="0"/>
              <a:t>STD-008: Initialize All Variables</a:t>
            </a:r>
          </a:p>
          <a:p>
            <a:pPr marL="800100" lvl="1">
              <a:spcBef>
                <a:spcPts val="0"/>
              </a:spcBef>
              <a:buSzPts val="2000"/>
            </a:pPr>
            <a:r>
              <a:rPr lang="en-US" dirty="0"/>
              <a:t>STD-010: Prevent Sensitive Info Leaks</a:t>
            </a:r>
          </a:p>
          <a:p>
            <a:pPr marL="800100" lvl="1">
              <a:spcBef>
                <a:spcPts val="0"/>
              </a:spcBef>
              <a:buSzPts val="2000"/>
            </a:pPr>
            <a:r>
              <a:rPr lang="en-US" dirty="0"/>
              <a:t>STD-001: Safe Type Conversions</a:t>
            </a:r>
          </a:p>
          <a:p>
            <a:pPr marL="342900">
              <a:spcBef>
                <a:spcPts val="0"/>
              </a:spcBef>
              <a:buSzPts val="2000"/>
            </a:pPr>
            <a:endParaRPr lang="en-US" b="1" dirty="0"/>
          </a:p>
          <a:p>
            <a:pPr marL="342900">
              <a:spcBef>
                <a:spcPts val="0"/>
              </a:spcBef>
              <a:buSzPts val="2000"/>
            </a:pPr>
            <a:r>
              <a:rPr lang="en-US" b="1" dirty="0"/>
              <a:t>Priority 3 (Medium – Technical Debt to Resolve):</a:t>
            </a:r>
          </a:p>
          <a:p>
            <a:pPr marL="800100" lvl="1">
              <a:spcBef>
                <a:spcPts val="0"/>
              </a:spcBef>
              <a:buSzPts val="2000"/>
            </a:pPr>
            <a:r>
              <a:rPr lang="en-US" dirty="0"/>
              <a:t>STD-007: Catch Exceptions Securely</a:t>
            </a:r>
          </a:p>
          <a:p>
            <a:pPr marL="800100" lvl="1">
              <a:spcBef>
                <a:spcPts val="0"/>
              </a:spcBef>
              <a:buSzPts val="2000"/>
            </a:pPr>
            <a:r>
              <a:rPr lang="en-US" dirty="0"/>
              <a:t>STD-006: No Side Effects in Assertions</a:t>
            </a:r>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71209">
        <p159:morph option="byObject"/>
      </p:transition>
    </mc:Choice>
    <mc:Fallback xmlns="">
      <p:transition spd="slow" advTm="71209">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ENCRYPTION POLICIES</a:t>
            </a:r>
            <a:endParaRPr dirty="0"/>
          </a:p>
        </p:txBody>
      </p:sp>
      <p:sp>
        <p:nvSpPr>
          <p:cNvPr id="182" name="Google Shape;182;p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000"/>
              <a:buChar char="•"/>
            </a:pPr>
            <a:r>
              <a:rPr lang="en-US" sz="2000" b="1" dirty="0"/>
              <a:t>Encryption in Flight:</a:t>
            </a:r>
            <a:r>
              <a:rPr lang="en-US" sz="2000" dirty="0"/>
              <a:t> All network traffic must be encrypted using TLS 1.2 or higher.  This protects data packets as they travel across the network from interceptors.</a:t>
            </a:r>
          </a:p>
          <a:p>
            <a:pPr marL="228600" lvl="0" indent="-228600" algn="l" rtl="0">
              <a:lnSpc>
                <a:spcPct val="90000"/>
              </a:lnSpc>
              <a:spcBef>
                <a:spcPts val="0"/>
              </a:spcBef>
              <a:spcAft>
                <a:spcPts val="0"/>
              </a:spcAft>
              <a:buClr>
                <a:schemeClr val="lt1"/>
              </a:buClr>
              <a:buSzPts val="2000"/>
              <a:buChar char="•"/>
            </a:pPr>
            <a:endParaRPr lang="en-US" sz="2000" b="1" dirty="0"/>
          </a:p>
          <a:p>
            <a:pPr marL="228600" lvl="0" indent="-228600" algn="l" rtl="0">
              <a:lnSpc>
                <a:spcPct val="90000"/>
              </a:lnSpc>
              <a:spcBef>
                <a:spcPts val="0"/>
              </a:spcBef>
              <a:spcAft>
                <a:spcPts val="0"/>
              </a:spcAft>
              <a:buClr>
                <a:schemeClr val="lt1"/>
              </a:buClr>
              <a:buSzPts val="2000"/>
              <a:buChar char="•"/>
            </a:pPr>
            <a:endParaRPr lang="en-US" sz="2000" b="1" dirty="0"/>
          </a:p>
          <a:p>
            <a:pPr marL="228600" lvl="0" indent="-228600" algn="l" rtl="0">
              <a:lnSpc>
                <a:spcPct val="90000"/>
              </a:lnSpc>
              <a:spcBef>
                <a:spcPts val="0"/>
              </a:spcBef>
              <a:spcAft>
                <a:spcPts val="0"/>
              </a:spcAft>
              <a:buClr>
                <a:schemeClr val="lt1"/>
              </a:buClr>
              <a:buSzPts val="2000"/>
              <a:buChar char="•"/>
            </a:pPr>
            <a:r>
              <a:rPr lang="en-US" sz="2000" b="1" dirty="0"/>
              <a:t>Encryption at Rest: </a:t>
            </a:r>
            <a:r>
              <a:rPr lang="en-US" sz="2000" dirty="0"/>
              <a:t>All sensitive database records must be encrypted using AES-256. This ensures that even if the physical storage hardware is stolen, the data remains unreadable.</a:t>
            </a:r>
          </a:p>
          <a:p>
            <a:pPr marL="228600" lvl="0" indent="-228600" algn="l" rtl="0">
              <a:lnSpc>
                <a:spcPct val="90000"/>
              </a:lnSpc>
              <a:spcBef>
                <a:spcPts val="0"/>
              </a:spcBef>
              <a:spcAft>
                <a:spcPts val="0"/>
              </a:spcAft>
              <a:buClr>
                <a:schemeClr val="lt1"/>
              </a:buClr>
              <a:buSzPts val="2000"/>
              <a:buChar char="•"/>
            </a:pPr>
            <a:endParaRPr lang="en-US" sz="2000" b="1" dirty="0"/>
          </a:p>
          <a:p>
            <a:pPr marL="228600" lvl="0" indent="-228600" algn="l" rtl="0">
              <a:lnSpc>
                <a:spcPct val="90000"/>
              </a:lnSpc>
              <a:spcBef>
                <a:spcPts val="0"/>
              </a:spcBef>
              <a:spcAft>
                <a:spcPts val="0"/>
              </a:spcAft>
              <a:buClr>
                <a:schemeClr val="lt1"/>
              </a:buClr>
              <a:buSzPts val="2000"/>
              <a:buChar char="•"/>
            </a:pPr>
            <a:r>
              <a:rPr lang="en-US" sz="2000" b="1" dirty="0"/>
              <a:t>Encryption in Use: </a:t>
            </a:r>
            <a:r>
              <a:rPr lang="en-US" sz="2000" dirty="0"/>
              <a:t>Sensitive computations must utilize secure enclaves or memory protection.  This prevents unauthorized processes from reading sensitive data while it is being actively processed in system RAM.</a:t>
            </a:r>
            <a:endParaRPr sz="1600" b="1" dirty="0"/>
          </a:p>
          <a:p>
            <a:pPr marL="0" lvl="0" indent="0" algn="l" rtl="0">
              <a:lnSpc>
                <a:spcPct val="90000"/>
              </a:lnSpc>
              <a:spcBef>
                <a:spcPts val="1000"/>
              </a:spcBef>
              <a:spcAft>
                <a:spcPts val="0"/>
              </a:spcAft>
              <a:buClr>
                <a:schemeClr val="lt1"/>
              </a:buClr>
              <a:buSzPts val="1600"/>
              <a:buNone/>
            </a:pPr>
            <a:endParaRPr sz="1600" dirty="0"/>
          </a:p>
          <a:p>
            <a:pPr marL="228600" lvl="0" indent="-88900" algn="l" rtl="0">
              <a:lnSpc>
                <a:spcPct val="90000"/>
              </a:lnSpc>
              <a:spcBef>
                <a:spcPts val="1000"/>
              </a:spcBef>
              <a:spcAft>
                <a:spcPts val="0"/>
              </a:spcAft>
              <a:buClr>
                <a:schemeClr val="lt1"/>
              </a:buClr>
              <a:buSzPts val="2200"/>
              <a:buNone/>
            </a:pPr>
            <a:endParaRPr dirty="0"/>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65225">
        <p159:morph option="byObject"/>
      </p:transition>
    </mc:Choice>
    <mc:Fallback xmlns="">
      <p:transition spd="slow" advTm="65225">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TRIPLE-A POLICIES</a:t>
            </a:r>
            <a:endParaRPr dirty="0"/>
          </a:p>
        </p:txBody>
      </p:sp>
      <p:sp>
        <p:nvSpPr>
          <p:cNvPr id="189" name="Google Shape;189;p8"/>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400"/>
              <a:buChar char="•"/>
            </a:pPr>
            <a:r>
              <a:rPr lang="en-US" b="1" dirty="0"/>
              <a:t>Authentication (Identify Verification): </a:t>
            </a:r>
            <a:r>
              <a:rPr lang="en-US" dirty="0"/>
              <a:t>Mandates Multi-Factor Authentication (MFA) for all user access to prevent unauthorized entry.</a:t>
            </a:r>
          </a:p>
          <a:p>
            <a:pPr marL="228600" lvl="0" indent="-228600" algn="l" rtl="0">
              <a:lnSpc>
                <a:spcPct val="90000"/>
              </a:lnSpc>
              <a:spcBef>
                <a:spcPts val="0"/>
              </a:spcBef>
              <a:spcAft>
                <a:spcPts val="0"/>
              </a:spcAft>
              <a:buClr>
                <a:schemeClr val="lt1"/>
              </a:buClr>
              <a:buSzPts val="2400"/>
              <a:buChar char="•"/>
            </a:pPr>
            <a:endParaRPr lang="en-US" b="1" dirty="0"/>
          </a:p>
          <a:p>
            <a:pPr marL="228600" lvl="0" indent="-228600" algn="l" rtl="0">
              <a:lnSpc>
                <a:spcPct val="90000"/>
              </a:lnSpc>
              <a:spcBef>
                <a:spcPts val="0"/>
              </a:spcBef>
              <a:spcAft>
                <a:spcPts val="0"/>
              </a:spcAft>
              <a:buClr>
                <a:schemeClr val="lt1"/>
              </a:buClr>
              <a:buSzPts val="2400"/>
              <a:buChar char="•"/>
            </a:pPr>
            <a:endParaRPr lang="en-US" b="1" dirty="0"/>
          </a:p>
          <a:p>
            <a:pPr marL="228600" lvl="0" indent="-228600" algn="l" rtl="0">
              <a:lnSpc>
                <a:spcPct val="90000"/>
              </a:lnSpc>
              <a:spcBef>
                <a:spcPts val="0"/>
              </a:spcBef>
              <a:spcAft>
                <a:spcPts val="0"/>
              </a:spcAft>
              <a:buClr>
                <a:schemeClr val="lt1"/>
              </a:buClr>
              <a:buSzPts val="2400"/>
              <a:buChar char="•"/>
            </a:pPr>
            <a:r>
              <a:rPr lang="en-US" b="1" dirty="0"/>
              <a:t>Authorization (Access Control): </a:t>
            </a:r>
            <a:r>
              <a:rPr lang="en-US" dirty="0"/>
              <a:t>Implements Role-Based Access Control (RBAC) to enforce the “Principle of Least Privilege,” ensuring users access only the resources necessary for their job.</a:t>
            </a:r>
          </a:p>
          <a:p>
            <a:pPr marL="228600" lvl="0" indent="-228600" algn="l" rtl="0">
              <a:lnSpc>
                <a:spcPct val="90000"/>
              </a:lnSpc>
              <a:spcBef>
                <a:spcPts val="0"/>
              </a:spcBef>
              <a:spcAft>
                <a:spcPts val="0"/>
              </a:spcAft>
              <a:buClr>
                <a:schemeClr val="lt1"/>
              </a:buClr>
              <a:buSzPts val="2400"/>
              <a:buChar char="•"/>
            </a:pPr>
            <a:endParaRPr lang="en-US" b="1" dirty="0"/>
          </a:p>
          <a:p>
            <a:pPr marL="228600" lvl="0" indent="-228600" algn="l" rtl="0">
              <a:lnSpc>
                <a:spcPct val="90000"/>
              </a:lnSpc>
              <a:spcBef>
                <a:spcPts val="0"/>
              </a:spcBef>
              <a:spcAft>
                <a:spcPts val="0"/>
              </a:spcAft>
              <a:buClr>
                <a:schemeClr val="lt1"/>
              </a:buClr>
              <a:buSzPts val="2400"/>
              <a:buChar char="•"/>
            </a:pPr>
            <a:endParaRPr lang="en-US" b="1" dirty="0"/>
          </a:p>
          <a:p>
            <a:pPr marL="228600" lvl="0" indent="-228600" algn="l" rtl="0">
              <a:lnSpc>
                <a:spcPct val="90000"/>
              </a:lnSpc>
              <a:spcBef>
                <a:spcPts val="0"/>
              </a:spcBef>
              <a:spcAft>
                <a:spcPts val="0"/>
              </a:spcAft>
              <a:buClr>
                <a:schemeClr val="lt1"/>
              </a:buClr>
              <a:buSzPts val="2400"/>
              <a:buChar char="•"/>
            </a:pPr>
            <a:r>
              <a:rPr lang="en-US" b="1" dirty="0"/>
              <a:t>Accounting (Auditing &amp; Logging): </a:t>
            </a:r>
            <a:r>
              <a:rPr lang="en-US" dirty="0"/>
              <a:t>Requires immutable, tamper-evident logs for all system interactions to maintain a comprehensive forensic audit trail.</a:t>
            </a:r>
            <a:endParaRPr b="1" dirty="0"/>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56406">
        <p159:morph option="byObject"/>
      </p:transition>
    </mc:Choice>
    <mc:Fallback xmlns="">
      <p:transition spd="slow" advTm="56406">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Does the system safely process valid integer addition?</a:t>
            </a:r>
            <a:endParaRPr dirty="0"/>
          </a:p>
        </p:txBody>
      </p:sp>
      <p:sp>
        <p:nvSpPr>
          <p:cNvPr id="196" name="Google Shape;196;g9504e29505_0_0"/>
          <p:cNvSpPr txBox="1">
            <a:spLocks noGrp="1"/>
          </p:cNvSpPr>
          <p:nvPr>
            <p:ph type="body" idx="1"/>
          </p:nvPr>
        </p:nvSpPr>
        <p:spPr>
          <a:xfrm>
            <a:off x="89314" y="1990938"/>
            <a:ext cx="4461782" cy="4024200"/>
          </a:xfrm>
          <a:prstGeom prst="rect">
            <a:avLst/>
          </a:prstGeom>
          <a:noFill/>
          <a:ln>
            <a:noFill/>
          </a:ln>
        </p:spPr>
        <p:txBody>
          <a:bodyPr spcFirstLastPara="1" wrap="square" lIns="91425" tIns="45700" rIns="91425" bIns="45700" anchor="t" anchorCtr="0">
            <a:noAutofit/>
          </a:bodyPr>
          <a:lstStyle/>
          <a:p>
            <a:pPr marL="285750" indent="-285750"/>
            <a:r>
              <a:rPr lang="en-US" sz="1600" b="1" dirty="0"/>
              <a:t>Vulnerability Identified: </a:t>
            </a:r>
            <a:r>
              <a:rPr lang="en-US" sz="1600" dirty="0"/>
              <a:t>Integer Overflow (INT30-C).</a:t>
            </a:r>
          </a:p>
          <a:p>
            <a:pPr marL="285750" indent="-285750"/>
            <a:r>
              <a:rPr lang="en-US" sz="1600" b="1" dirty="0"/>
              <a:t>Test Type: </a:t>
            </a:r>
            <a:r>
              <a:rPr lang="en-US" sz="1600" dirty="0"/>
              <a:t>Positive Test (Validates expected behavior).</a:t>
            </a:r>
          </a:p>
          <a:p>
            <a:pPr marL="285750" indent="-285750"/>
            <a:r>
              <a:rPr lang="en-US" sz="1600" b="1" dirty="0"/>
              <a:t>Test Goal: </a:t>
            </a:r>
            <a:r>
              <a:rPr lang="en-US" sz="1600" dirty="0"/>
              <a:t>Confirm that standard math (20 + 30) process correctly without triggering security exceptions.</a:t>
            </a:r>
          </a:p>
          <a:p>
            <a:pPr marL="285750" indent="-285750"/>
            <a:r>
              <a:rPr lang="en-US" sz="1600" b="1" dirty="0"/>
              <a:t>Result: PASS. </a:t>
            </a:r>
            <a:r>
              <a:rPr lang="en-US" sz="1600" dirty="0"/>
              <a:t>The system returned the expected value of 50.</a:t>
            </a:r>
            <a:endParaRPr sz="1600" b="1" dirty="0"/>
          </a:p>
        </p:txBody>
      </p:sp>
      <p:pic>
        <p:nvPicPr>
          <p:cNvPr id="197" name="Google Shape;197;g9504e29505_0_0" descr="Green Pace logo"/>
          <p:cNvPicPr preferRelativeResize="0"/>
          <p:nvPr/>
        </p:nvPicPr>
        <p:blipFill>
          <a:blip r:embed="rId4">
            <a:alphaModFix/>
          </a:blip>
          <a:stretch>
            <a:fillRect/>
          </a:stretch>
        </p:blipFill>
        <p:spPr>
          <a:xfrm>
            <a:off x="0" y="5708775"/>
            <a:ext cx="886601" cy="1149225"/>
          </a:xfrm>
          <a:prstGeom prst="rect">
            <a:avLst/>
          </a:prstGeom>
          <a:noFill/>
          <a:ln>
            <a:noFill/>
          </a:ln>
        </p:spPr>
      </p:pic>
      <p:pic>
        <p:nvPicPr>
          <p:cNvPr id="8" name="Picture 7">
            <a:extLst>
              <a:ext uri="{FF2B5EF4-FFF2-40B4-BE49-F238E27FC236}">
                <a16:creationId xmlns:a16="http://schemas.microsoft.com/office/drawing/2014/main" id="{CABCB7F4-88E2-3DE4-C287-FB692A5C3539}"/>
              </a:ext>
            </a:extLst>
          </p:cNvPr>
          <p:cNvPicPr>
            <a:picLocks noChangeAspect="1"/>
          </p:cNvPicPr>
          <p:nvPr/>
        </p:nvPicPr>
        <p:blipFill>
          <a:blip r:embed="rId5"/>
          <a:stretch>
            <a:fillRect/>
          </a:stretch>
        </p:blipFill>
        <p:spPr>
          <a:xfrm>
            <a:off x="4551096" y="1990938"/>
            <a:ext cx="7551590" cy="4322043"/>
          </a:xfrm>
          <a:prstGeom prst="rect">
            <a:avLst/>
          </a:prstGeom>
        </p:spPr>
      </p:pic>
      <p:sp>
        <p:nvSpPr>
          <p:cNvPr id="15" name="Rectangle 14">
            <a:extLst>
              <a:ext uri="{FF2B5EF4-FFF2-40B4-BE49-F238E27FC236}">
                <a16:creationId xmlns:a16="http://schemas.microsoft.com/office/drawing/2014/main" id="{3FBE216C-E820-E137-6B31-03BFCAE7BABB}"/>
              </a:ext>
            </a:extLst>
          </p:cNvPr>
          <p:cNvSpPr/>
          <p:nvPr/>
        </p:nvSpPr>
        <p:spPr>
          <a:xfrm>
            <a:off x="5257800" y="3008376"/>
            <a:ext cx="2496312" cy="86868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1591">
        <p159:morph option="byObject"/>
      </p:transition>
    </mc:Choice>
    <mc:Fallback xmlns="">
      <p:transition spd="slow" advTm="31591">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CE4A6BDF-227F-1C95-3B2A-CAACB526FCB4}"/>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94EDB622-F8AE-1377-44D9-D0B3D463B715}"/>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Does the system safely process negative integer addition?</a:t>
            </a:r>
            <a:endParaRPr dirty="0"/>
          </a:p>
        </p:txBody>
      </p:sp>
      <p:sp>
        <p:nvSpPr>
          <p:cNvPr id="196" name="Google Shape;196;g9504e29505_0_0">
            <a:extLst>
              <a:ext uri="{FF2B5EF4-FFF2-40B4-BE49-F238E27FC236}">
                <a16:creationId xmlns:a16="http://schemas.microsoft.com/office/drawing/2014/main" id="{257A9BF2-FC37-BE4F-AEAB-8A5D23EA49A4}"/>
              </a:ext>
            </a:extLst>
          </p:cNvPr>
          <p:cNvSpPr txBox="1">
            <a:spLocks noGrp="1"/>
          </p:cNvSpPr>
          <p:nvPr>
            <p:ph type="body" idx="1"/>
          </p:nvPr>
        </p:nvSpPr>
        <p:spPr>
          <a:xfrm>
            <a:off x="89314" y="1990938"/>
            <a:ext cx="4461782" cy="4024200"/>
          </a:xfrm>
          <a:prstGeom prst="rect">
            <a:avLst/>
          </a:prstGeom>
          <a:noFill/>
          <a:ln>
            <a:noFill/>
          </a:ln>
        </p:spPr>
        <p:txBody>
          <a:bodyPr spcFirstLastPara="1" wrap="square" lIns="91425" tIns="45700" rIns="91425" bIns="45700" anchor="t" anchorCtr="0">
            <a:noAutofit/>
          </a:bodyPr>
          <a:lstStyle/>
          <a:p>
            <a:pPr marL="285750" indent="-285750"/>
            <a:r>
              <a:rPr lang="en-US" sz="1600" b="1" dirty="0"/>
              <a:t>Vulnerability Identified: </a:t>
            </a:r>
            <a:r>
              <a:rPr lang="en-US" sz="1600" dirty="0"/>
              <a:t>Integer Overflow (INT30-C).</a:t>
            </a:r>
          </a:p>
          <a:p>
            <a:pPr marL="285750" indent="-285750"/>
            <a:r>
              <a:rPr lang="en-US" sz="1600" b="1" dirty="0"/>
              <a:t>Test Type: </a:t>
            </a:r>
            <a:r>
              <a:rPr lang="en-US" sz="1600" dirty="0"/>
              <a:t>Positive Test (Verification of signed logic).</a:t>
            </a:r>
          </a:p>
          <a:p>
            <a:pPr marL="285750" indent="-285750"/>
            <a:r>
              <a:rPr lang="en-US" sz="1600" b="1" dirty="0"/>
              <a:t>Test Goal: </a:t>
            </a:r>
            <a:r>
              <a:rPr lang="en-US" sz="1600" dirty="0"/>
              <a:t>Confirm that the system correctly calculates the addition of negative integers (e.g., -5 + -5) without underflow or logic errors.</a:t>
            </a:r>
          </a:p>
          <a:p>
            <a:pPr marL="285750" indent="-285750"/>
            <a:r>
              <a:rPr lang="en-US" sz="1600" b="1" dirty="0"/>
              <a:t>Result: PASS. </a:t>
            </a:r>
            <a:r>
              <a:rPr lang="en-US" sz="1600" dirty="0"/>
              <a:t>The SafeMath logic confirmed the values were within the INT_MIN boundary and returned -10.</a:t>
            </a:r>
            <a:endParaRPr sz="1600" b="1" dirty="0"/>
          </a:p>
        </p:txBody>
      </p:sp>
      <p:pic>
        <p:nvPicPr>
          <p:cNvPr id="197" name="Google Shape;197;g9504e29505_0_0" descr="Green Pace logo">
            <a:extLst>
              <a:ext uri="{FF2B5EF4-FFF2-40B4-BE49-F238E27FC236}">
                <a16:creationId xmlns:a16="http://schemas.microsoft.com/office/drawing/2014/main" id="{9FFC0CC1-11E6-D794-1369-20391096258A}"/>
              </a:ext>
            </a:extLst>
          </p:cNvPr>
          <p:cNvPicPr preferRelativeResize="0"/>
          <p:nvPr/>
        </p:nvPicPr>
        <p:blipFill>
          <a:blip r:embed="rId4">
            <a:alphaModFix/>
          </a:blip>
          <a:stretch>
            <a:fillRect/>
          </a:stretch>
        </p:blipFill>
        <p:spPr>
          <a:xfrm>
            <a:off x="0" y="5708775"/>
            <a:ext cx="886601" cy="1149225"/>
          </a:xfrm>
          <a:prstGeom prst="rect">
            <a:avLst/>
          </a:prstGeom>
          <a:noFill/>
          <a:ln>
            <a:noFill/>
          </a:ln>
        </p:spPr>
      </p:pic>
      <p:pic>
        <p:nvPicPr>
          <p:cNvPr id="8" name="Picture 7">
            <a:extLst>
              <a:ext uri="{FF2B5EF4-FFF2-40B4-BE49-F238E27FC236}">
                <a16:creationId xmlns:a16="http://schemas.microsoft.com/office/drawing/2014/main" id="{776A0822-C3D8-4BA2-584D-7EBF3D853FB3}"/>
              </a:ext>
            </a:extLst>
          </p:cNvPr>
          <p:cNvPicPr>
            <a:picLocks noChangeAspect="1"/>
          </p:cNvPicPr>
          <p:nvPr/>
        </p:nvPicPr>
        <p:blipFill>
          <a:blip r:embed="rId5"/>
          <a:stretch>
            <a:fillRect/>
          </a:stretch>
        </p:blipFill>
        <p:spPr>
          <a:xfrm>
            <a:off x="4551096" y="1990938"/>
            <a:ext cx="7551590" cy="4322043"/>
          </a:xfrm>
          <a:prstGeom prst="rect">
            <a:avLst/>
          </a:prstGeom>
        </p:spPr>
      </p:pic>
      <p:sp>
        <p:nvSpPr>
          <p:cNvPr id="15" name="Rectangle 14">
            <a:extLst>
              <a:ext uri="{FF2B5EF4-FFF2-40B4-BE49-F238E27FC236}">
                <a16:creationId xmlns:a16="http://schemas.microsoft.com/office/drawing/2014/main" id="{C6FA9323-675D-D9FE-D351-9B2D2B81FEB0}"/>
              </a:ext>
            </a:extLst>
          </p:cNvPr>
          <p:cNvSpPr/>
          <p:nvPr/>
        </p:nvSpPr>
        <p:spPr>
          <a:xfrm>
            <a:off x="5458968" y="3895343"/>
            <a:ext cx="2478024" cy="72417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CF8ED260-1B26-2D03-1456-332FFD7F6AEE}"/>
              </a:ext>
            </a:extLst>
          </p:cNvPr>
          <p:cNvSpPr/>
          <p:nvPr/>
        </p:nvSpPr>
        <p:spPr>
          <a:xfrm>
            <a:off x="10396728" y="2980944"/>
            <a:ext cx="1705958" cy="12801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0358612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5945">
        <p159:morph option="byObject"/>
      </p:transition>
    </mc:Choice>
    <mc:Fallback xmlns="">
      <p:transition spd="slow" advTm="35945">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2A7CDD93-3523-5EBA-854E-85DB211668F2}"/>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BA099E18-C43B-0DEB-7BB8-CE1511612FBB}"/>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Does the system catch an Integer Overflow?</a:t>
            </a:r>
            <a:endParaRPr dirty="0"/>
          </a:p>
        </p:txBody>
      </p:sp>
      <p:sp>
        <p:nvSpPr>
          <p:cNvPr id="196" name="Google Shape;196;g9504e29505_0_0">
            <a:extLst>
              <a:ext uri="{FF2B5EF4-FFF2-40B4-BE49-F238E27FC236}">
                <a16:creationId xmlns:a16="http://schemas.microsoft.com/office/drawing/2014/main" id="{FC3D8159-4FB6-1774-B509-EF7D82D3C301}"/>
              </a:ext>
            </a:extLst>
          </p:cNvPr>
          <p:cNvSpPr txBox="1">
            <a:spLocks noGrp="1"/>
          </p:cNvSpPr>
          <p:nvPr>
            <p:ph type="body" idx="1"/>
          </p:nvPr>
        </p:nvSpPr>
        <p:spPr>
          <a:xfrm>
            <a:off x="89314" y="1990938"/>
            <a:ext cx="4461782" cy="4024200"/>
          </a:xfrm>
          <a:prstGeom prst="rect">
            <a:avLst/>
          </a:prstGeom>
          <a:noFill/>
          <a:ln>
            <a:noFill/>
          </a:ln>
        </p:spPr>
        <p:txBody>
          <a:bodyPr spcFirstLastPara="1" wrap="square" lIns="91425" tIns="45700" rIns="91425" bIns="45700" anchor="t" anchorCtr="0">
            <a:noAutofit/>
          </a:bodyPr>
          <a:lstStyle/>
          <a:p>
            <a:pPr marL="285750" indent="-285750"/>
            <a:r>
              <a:rPr lang="en-US" sz="1600" b="1" dirty="0"/>
              <a:t>Vulnerability Identified: </a:t>
            </a:r>
            <a:r>
              <a:rPr lang="en-US" sz="1600" dirty="0"/>
              <a:t>Integer Overflow (INT30-C).</a:t>
            </a:r>
          </a:p>
          <a:p>
            <a:pPr marL="285750" indent="-285750"/>
            <a:r>
              <a:rPr lang="en-US" sz="1600" b="1" dirty="0"/>
              <a:t>Test Type: </a:t>
            </a:r>
            <a:r>
              <a:rPr lang="en-US" sz="1600" dirty="0"/>
              <a:t>Negative Test (Vulnerability Simulation).</a:t>
            </a:r>
          </a:p>
          <a:p>
            <a:pPr marL="285750" indent="-285750"/>
            <a:r>
              <a:rPr lang="en-US" sz="1600" b="1" dirty="0"/>
              <a:t>Test Goal: </a:t>
            </a:r>
            <a:r>
              <a:rPr lang="en-US" sz="1600" dirty="0"/>
              <a:t>Confirm the system intercepts an attempt to add past the maximum integer limit (INT_MAX +1)</a:t>
            </a:r>
          </a:p>
          <a:p>
            <a:pPr marL="285750" indent="-285750"/>
            <a:r>
              <a:rPr lang="en-US" sz="1600" b="1" dirty="0"/>
              <a:t>Result: PASS. </a:t>
            </a:r>
            <a:r>
              <a:rPr lang="en-US" sz="1600" dirty="0"/>
              <a:t>The system successfully caught the overflow attempt and threw an </a:t>
            </a:r>
            <a:r>
              <a:rPr lang="en-US" sz="1600" i="1" dirty="0"/>
              <a:t>overflow_error </a:t>
            </a:r>
            <a:r>
              <a:rPr lang="en-US" sz="1600" dirty="0"/>
              <a:t>exception instead of wrapping around.</a:t>
            </a:r>
            <a:endParaRPr sz="1600" b="1" dirty="0"/>
          </a:p>
        </p:txBody>
      </p:sp>
      <p:pic>
        <p:nvPicPr>
          <p:cNvPr id="197" name="Google Shape;197;g9504e29505_0_0" descr="Green Pace logo">
            <a:extLst>
              <a:ext uri="{FF2B5EF4-FFF2-40B4-BE49-F238E27FC236}">
                <a16:creationId xmlns:a16="http://schemas.microsoft.com/office/drawing/2014/main" id="{4DEF3BF3-AB07-7A1E-8781-A5868FBBDA2C}"/>
              </a:ext>
            </a:extLst>
          </p:cNvPr>
          <p:cNvPicPr preferRelativeResize="0"/>
          <p:nvPr/>
        </p:nvPicPr>
        <p:blipFill>
          <a:blip r:embed="rId4">
            <a:alphaModFix/>
          </a:blip>
          <a:stretch>
            <a:fillRect/>
          </a:stretch>
        </p:blipFill>
        <p:spPr>
          <a:xfrm>
            <a:off x="0" y="5708775"/>
            <a:ext cx="886601" cy="1149225"/>
          </a:xfrm>
          <a:prstGeom prst="rect">
            <a:avLst/>
          </a:prstGeom>
          <a:noFill/>
          <a:ln>
            <a:noFill/>
          </a:ln>
        </p:spPr>
      </p:pic>
      <p:pic>
        <p:nvPicPr>
          <p:cNvPr id="8" name="Picture 7">
            <a:extLst>
              <a:ext uri="{FF2B5EF4-FFF2-40B4-BE49-F238E27FC236}">
                <a16:creationId xmlns:a16="http://schemas.microsoft.com/office/drawing/2014/main" id="{B96AD6AE-FDD5-4B72-A208-3762EDC827BA}"/>
              </a:ext>
            </a:extLst>
          </p:cNvPr>
          <p:cNvPicPr>
            <a:picLocks noChangeAspect="1"/>
          </p:cNvPicPr>
          <p:nvPr/>
        </p:nvPicPr>
        <p:blipFill>
          <a:blip r:embed="rId5"/>
          <a:stretch>
            <a:fillRect/>
          </a:stretch>
        </p:blipFill>
        <p:spPr>
          <a:xfrm>
            <a:off x="4551096" y="1990938"/>
            <a:ext cx="7551590" cy="4322043"/>
          </a:xfrm>
          <a:prstGeom prst="rect">
            <a:avLst/>
          </a:prstGeom>
        </p:spPr>
      </p:pic>
      <p:sp>
        <p:nvSpPr>
          <p:cNvPr id="15" name="Rectangle 14">
            <a:extLst>
              <a:ext uri="{FF2B5EF4-FFF2-40B4-BE49-F238E27FC236}">
                <a16:creationId xmlns:a16="http://schemas.microsoft.com/office/drawing/2014/main" id="{16426881-6154-71A2-37B2-24786928713A}"/>
              </a:ext>
            </a:extLst>
          </p:cNvPr>
          <p:cNvSpPr/>
          <p:nvPr/>
        </p:nvSpPr>
        <p:spPr>
          <a:xfrm>
            <a:off x="5477256" y="4590287"/>
            <a:ext cx="3227832" cy="80467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706E2A73-DB9B-A77E-BCDC-1EA797DF3617}"/>
              </a:ext>
            </a:extLst>
          </p:cNvPr>
          <p:cNvSpPr/>
          <p:nvPr/>
        </p:nvSpPr>
        <p:spPr>
          <a:xfrm>
            <a:off x="10396728" y="3072384"/>
            <a:ext cx="1705958" cy="12801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1298097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42057">
        <p159:morph option="byObject"/>
      </p:transition>
    </mc:Choice>
    <mc:Fallback xmlns="">
      <p:transition spd="slow" advTm="42057">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8C4C5634-119E-2C16-E3AF-934EC2034E4F}"/>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1ECAC5E3-FE1C-9379-A5AC-CB518E291B9A}"/>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Does the system catch an Integer Underflow?</a:t>
            </a:r>
            <a:endParaRPr dirty="0"/>
          </a:p>
        </p:txBody>
      </p:sp>
      <p:sp>
        <p:nvSpPr>
          <p:cNvPr id="196" name="Google Shape;196;g9504e29505_0_0">
            <a:extLst>
              <a:ext uri="{FF2B5EF4-FFF2-40B4-BE49-F238E27FC236}">
                <a16:creationId xmlns:a16="http://schemas.microsoft.com/office/drawing/2014/main" id="{F8A1FADA-BFB4-CBB0-6479-18E3ED8A2E8D}"/>
              </a:ext>
            </a:extLst>
          </p:cNvPr>
          <p:cNvSpPr txBox="1">
            <a:spLocks noGrp="1"/>
          </p:cNvSpPr>
          <p:nvPr>
            <p:ph type="body" idx="1"/>
          </p:nvPr>
        </p:nvSpPr>
        <p:spPr>
          <a:xfrm>
            <a:off x="89314" y="1990938"/>
            <a:ext cx="4461782" cy="4024200"/>
          </a:xfrm>
          <a:prstGeom prst="rect">
            <a:avLst/>
          </a:prstGeom>
          <a:noFill/>
          <a:ln>
            <a:noFill/>
          </a:ln>
        </p:spPr>
        <p:txBody>
          <a:bodyPr spcFirstLastPara="1" wrap="square" lIns="91425" tIns="45700" rIns="91425" bIns="45700" anchor="t" anchorCtr="0">
            <a:noAutofit/>
          </a:bodyPr>
          <a:lstStyle/>
          <a:p>
            <a:pPr marL="285750" indent="-285750"/>
            <a:r>
              <a:rPr lang="en-US" sz="1600" b="1" dirty="0"/>
              <a:t>Vulnerability Identified: </a:t>
            </a:r>
            <a:r>
              <a:rPr lang="en-US" sz="1600" dirty="0"/>
              <a:t>Integer Overflow (INT30-C).</a:t>
            </a:r>
          </a:p>
          <a:p>
            <a:pPr marL="285750" indent="-285750"/>
            <a:r>
              <a:rPr lang="en-US" sz="1600" b="1" dirty="0"/>
              <a:t>Test Type: </a:t>
            </a:r>
            <a:r>
              <a:rPr lang="en-US" sz="1600" dirty="0"/>
              <a:t>Negative Test (Vulnerability Simulation).</a:t>
            </a:r>
          </a:p>
          <a:p>
            <a:pPr marL="285750" indent="-285750"/>
            <a:r>
              <a:rPr lang="en-US" sz="1600" b="1" dirty="0"/>
              <a:t>Test Goal: </a:t>
            </a:r>
            <a:r>
              <a:rPr lang="en-US" sz="1600" dirty="0"/>
              <a:t>Confirm the system intercepts an attempt to subtract past the maximum integer limit (INT_MAX - 1)</a:t>
            </a:r>
          </a:p>
          <a:p>
            <a:pPr marL="285750" indent="-285750"/>
            <a:r>
              <a:rPr lang="en-US" sz="1600" b="1" dirty="0"/>
              <a:t>Result: PASS. </a:t>
            </a:r>
            <a:r>
              <a:rPr lang="en-US" sz="1600" dirty="0"/>
              <a:t>The system successfully caught the underflow attempt and threw an </a:t>
            </a:r>
            <a:r>
              <a:rPr lang="en-US" sz="1600" i="1" dirty="0" err="1"/>
              <a:t>underflow_error</a:t>
            </a:r>
            <a:r>
              <a:rPr lang="en-US" sz="1600" i="1" dirty="0"/>
              <a:t> </a:t>
            </a:r>
            <a:r>
              <a:rPr lang="en-US" sz="1600" dirty="0"/>
              <a:t>exception.</a:t>
            </a:r>
            <a:endParaRPr sz="1600" b="1" dirty="0"/>
          </a:p>
        </p:txBody>
      </p:sp>
      <p:pic>
        <p:nvPicPr>
          <p:cNvPr id="197" name="Google Shape;197;g9504e29505_0_0" descr="Green Pace logo">
            <a:extLst>
              <a:ext uri="{FF2B5EF4-FFF2-40B4-BE49-F238E27FC236}">
                <a16:creationId xmlns:a16="http://schemas.microsoft.com/office/drawing/2014/main" id="{7A9A42C8-56CA-D6DE-D991-D7E6560CEFF3}"/>
              </a:ext>
            </a:extLst>
          </p:cNvPr>
          <p:cNvPicPr preferRelativeResize="0"/>
          <p:nvPr/>
        </p:nvPicPr>
        <p:blipFill>
          <a:blip r:embed="rId4">
            <a:alphaModFix/>
          </a:blip>
          <a:stretch>
            <a:fillRect/>
          </a:stretch>
        </p:blipFill>
        <p:spPr>
          <a:xfrm>
            <a:off x="0" y="5708775"/>
            <a:ext cx="886601" cy="1149225"/>
          </a:xfrm>
          <a:prstGeom prst="rect">
            <a:avLst/>
          </a:prstGeom>
          <a:noFill/>
          <a:ln>
            <a:noFill/>
          </a:ln>
        </p:spPr>
      </p:pic>
      <p:pic>
        <p:nvPicPr>
          <p:cNvPr id="8" name="Picture 7">
            <a:extLst>
              <a:ext uri="{FF2B5EF4-FFF2-40B4-BE49-F238E27FC236}">
                <a16:creationId xmlns:a16="http://schemas.microsoft.com/office/drawing/2014/main" id="{BB971457-2404-F796-C2B3-1A70590699D7}"/>
              </a:ext>
            </a:extLst>
          </p:cNvPr>
          <p:cNvPicPr>
            <a:picLocks noChangeAspect="1"/>
          </p:cNvPicPr>
          <p:nvPr/>
        </p:nvPicPr>
        <p:blipFill>
          <a:blip r:embed="rId5"/>
          <a:stretch>
            <a:fillRect/>
          </a:stretch>
        </p:blipFill>
        <p:spPr>
          <a:xfrm>
            <a:off x="4551096" y="1961344"/>
            <a:ext cx="7551590" cy="4322043"/>
          </a:xfrm>
          <a:prstGeom prst="rect">
            <a:avLst/>
          </a:prstGeom>
        </p:spPr>
      </p:pic>
      <p:sp>
        <p:nvSpPr>
          <p:cNvPr id="15" name="Rectangle 14">
            <a:extLst>
              <a:ext uri="{FF2B5EF4-FFF2-40B4-BE49-F238E27FC236}">
                <a16:creationId xmlns:a16="http://schemas.microsoft.com/office/drawing/2014/main" id="{716D1AF2-57E7-A181-3E29-6CFD2369F670}"/>
              </a:ext>
            </a:extLst>
          </p:cNvPr>
          <p:cNvSpPr/>
          <p:nvPr/>
        </p:nvSpPr>
        <p:spPr>
          <a:xfrm>
            <a:off x="5504688" y="5404103"/>
            <a:ext cx="3648456" cy="79552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263BD0EB-AEE9-C5F9-2334-CB5CF98040E9}"/>
              </a:ext>
            </a:extLst>
          </p:cNvPr>
          <p:cNvSpPr/>
          <p:nvPr/>
        </p:nvSpPr>
        <p:spPr>
          <a:xfrm>
            <a:off x="10396728" y="3190336"/>
            <a:ext cx="1705958" cy="12801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7851230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49505">
        <p159:morph option="byObject"/>
      </p:transition>
    </mc:Choice>
    <mc:Fallback xmlns="">
      <p:transition spd="slow" advTm="49505">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4">
            <a:alphaModFix/>
          </a:blip>
          <a:srcRect/>
          <a:stretch/>
        </p:blipFill>
        <p:spPr>
          <a:xfrm>
            <a:off x="2127250" y="2199481"/>
            <a:ext cx="7937500" cy="4013200"/>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7978">
        <p159:morph option="byObject"/>
      </p:transition>
    </mc:Choice>
    <mc:Fallback xmlns="">
      <p:transition spd="slow" advTm="37978">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TOOLS</a:t>
            </a:r>
            <a:endParaRPr dirty="0"/>
          </a:p>
        </p:txBody>
      </p:sp>
      <p:sp>
        <p:nvSpPr>
          <p:cNvPr id="210" name="Google Shape;210;p10"/>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685800" lvl="1" indent="-228600" algn="l" rtl="0">
              <a:lnSpc>
                <a:spcPct val="90000"/>
              </a:lnSpc>
              <a:spcBef>
                <a:spcPts val="0"/>
              </a:spcBef>
              <a:spcAft>
                <a:spcPts val="0"/>
              </a:spcAft>
              <a:buClr>
                <a:schemeClr val="lt1"/>
              </a:buClr>
              <a:buSzPts val="2000"/>
              <a:buChar char="•"/>
            </a:pPr>
            <a:r>
              <a:rPr lang="en-US" sz="3200" b="1" dirty="0" err="1"/>
              <a:t>DevSecOps</a:t>
            </a:r>
            <a:r>
              <a:rPr lang="en-US" sz="3200" b="1" dirty="0"/>
              <a:t> Pipeline</a:t>
            </a:r>
            <a:endParaRPr sz="3200" b="1" dirty="0"/>
          </a:p>
          <a:p>
            <a:r>
              <a:rPr lang="en-US" b="1" dirty="0"/>
              <a:t>Pre-Production (IDE &amp; Build):</a:t>
            </a:r>
            <a:r>
              <a:rPr lang="en-US" dirty="0"/>
              <a:t> Developers use local linters (e.g., </a:t>
            </a:r>
            <a:r>
              <a:rPr lang="en-US" b="1" dirty="0" err="1"/>
              <a:t>Cppcheck</a:t>
            </a:r>
            <a:r>
              <a:rPr lang="en-US" dirty="0"/>
              <a:t>) to catch syntax and memory errors (like INT30-C) before committing code.</a:t>
            </a:r>
          </a:p>
          <a:p>
            <a:r>
              <a:rPr lang="en-US" b="1" dirty="0"/>
              <a:t>Verify &amp; Test (CI/CD Integration):</a:t>
            </a:r>
            <a:r>
              <a:rPr lang="en-US" dirty="0"/>
              <a:t> Automated scanners (e.g., </a:t>
            </a:r>
            <a:r>
              <a:rPr lang="en-US" b="1" dirty="0"/>
              <a:t>SonarQube</a:t>
            </a:r>
            <a:r>
              <a:rPr lang="en-US" dirty="0"/>
              <a:t>) analyze pull requests for vulnerabilities like SQL injections and enforce coding standards.</a:t>
            </a:r>
          </a:p>
          <a:p>
            <a:r>
              <a:rPr lang="en-US" b="1" dirty="0"/>
              <a:t>Automated Gating:</a:t>
            </a:r>
            <a:r>
              <a:rPr lang="en-US" dirty="0"/>
              <a:t> If a critical vulnerability is detected, the pipeline automatically blocks the build from merging into the main branch.</a:t>
            </a:r>
          </a:p>
          <a:p>
            <a:r>
              <a:rPr lang="en-US" b="1" dirty="0"/>
              <a:t>Monitor (Production):</a:t>
            </a:r>
            <a:r>
              <a:rPr lang="en-US" dirty="0"/>
              <a:t> SIEM tools aggregate immutable logs for continuous auditing and threat detection.</a:t>
            </a:r>
          </a:p>
        </p:txBody>
      </p:sp>
      <p:pic>
        <p:nvPicPr>
          <p:cNvPr id="211" name="Google Shape;211;p1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56746">
        <p159:morph option="byObject"/>
      </p:transition>
    </mc:Choice>
    <mc:Fallback xmlns="">
      <p:transition spd="slow" advTm="56746">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RISKS AND BENEFITS of </a:t>
            </a:r>
            <a:r>
              <a:rPr lang="en-US" dirty="0" err="1"/>
              <a:t>DevSpecOps</a:t>
            </a:r>
            <a:endParaRPr dirty="0"/>
          </a:p>
        </p:txBody>
      </p:sp>
      <p:sp>
        <p:nvSpPr>
          <p:cNvPr id="217" name="Google Shape;217;p11"/>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r>
              <a:rPr lang="en-US" b="1" dirty="0"/>
              <a:t>Problem &amp; Solution:</a:t>
            </a:r>
            <a:r>
              <a:rPr lang="en-US" dirty="0"/>
              <a:t> Manual security reviews are error-prone. Implementing automated </a:t>
            </a:r>
            <a:r>
              <a:rPr lang="en-US" dirty="0" err="1"/>
              <a:t>DevSecOps</a:t>
            </a:r>
            <a:r>
              <a:rPr lang="en-US" dirty="0"/>
              <a:t> catches vulnerabilities early. </a:t>
            </a:r>
          </a:p>
          <a:p>
            <a:r>
              <a:rPr lang="en-US" b="1" dirty="0"/>
              <a:t>Act Now vs. Wait:</a:t>
            </a:r>
            <a:r>
              <a:rPr lang="en-US" dirty="0"/>
              <a:t> * </a:t>
            </a:r>
            <a:r>
              <a:rPr lang="en-US" i="1" dirty="0"/>
              <a:t>Benefit of Acting Now:</a:t>
            </a:r>
            <a:r>
              <a:rPr lang="en-US" dirty="0"/>
              <a:t> Drastically reduces technical debt and remediation costs. </a:t>
            </a:r>
          </a:p>
          <a:p>
            <a:r>
              <a:rPr lang="en-US" i="1" dirty="0"/>
              <a:t>Risk of Waiting:</a:t>
            </a:r>
            <a:r>
              <a:rPr lang="en-US" dirty="0"/>
              <a:t> High probability of a data breach and failing the upcoming security audit. </a:t>
            </a:r>
          </a:p>
          <a:p>
            <a:r>
              <a:rPr lang="en-US" b="1" dirty="0"/>
              <a:t>Strategy Risks:</a:t>
            </a:r>
            <a:r>
              <a:rPr lang="en-US" dirty="0"/>
              <a:t> Automated pipelines can generate false positives, leading to developer "alert fatigue". </a:t>
            </a:r>
          </a:p>
          <a:p>
            <a:r>
              <a:rPr lang="en-US" b="1" dirty="0"/>
              <a:t>Current Gaps:</a:t>
            </a:r>
            <a:r>
              <a:rPr lang="en-US" dirty="0"/>
              <a:t> The strategy currently lacks third-party dependency scanning (Supply Chain Security). </a:t>
            </a:r>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65523">
        <p159:morph option="byObject"/>
      </p:transition>
    </mc:Choice>
    <mc:Fallback xmlns="">
      <p:transition spd="slow" advTm="65523">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RECOMMENDATIONS</a:t>
            </a:r>
            <a:endParaRPr/>
          </a:p>
        </p:txBody>
      </p:sp>
      <p:sp>
        <p:nvSpPr>
          <p:cNvPr id="224" name="Google Shape;224;p12"/>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r>
              <a:rPr lang="en-US" b="1" dirty="0"/>
              <a:t>Implement Supply Chain Security:</a:t>
            </a:r>
            <a:r>
              <a:rPr lang="en-US" dirty="0"/>
              <a:t> Integrate Software Composition Analysis (SCA) tools to automatically scan third-party libraries and dependencies.</a:t>
            </a:r>
          </a:p>
          <a:p>
            <a:r>
              <a:rPr lang="en-US" b="1" dirty="0"/>
              <a:t>Continuous Developer Training:</a:t>
            </a:r>
            <a:r>
              <a:rPr lang="en-US" dirty="0"/>
              <a:t> Establish mandatory, role-specific training on secure C++ coding standards to reduce errors and mitigate tool "alert fatigue."</a:t>
            </a:r>
          </a:p>
          <a:p>
            <a:r>
              <a:rPr lang="en-US" b="1" dirty="0"/>
              <a:t>Scheduled Penetration Testing:</a:t>
            </a:r>
            <a:r>
              <a:rPr lang="en-US" dirty="0"/>
              <a:t> Contract an external red team bi-annually to actively test the </a:t>
            </a:r>
            <a:r>
              <a:rPr lang="en-US" dirty="0" err="1"/>
              <a:t>DevSecOps</a:t>
            </a:r>
            <a:r>
              <a:rPr lang="en-US" dirty="0"/>
              <a:t> pipeline and validate our defensive perimeter.</a:t>
            </a:r>
          </a:p>
          <a:p>
            <a:r>
              <a:rPr lang="en-US" b="1" dirty="0"/>
              <a:t>Standardize Secure Enclaves:</a:t>
            </a:r>
            <a:r>
              <a:rPr lang="en-US" dirty="0"/>
              <a:t> Formalize a company-wide standard for using secure enclaves to protect all highly sensitive data "in use."</a:t>
            </a:r>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64781">
        <p159:morph option="byObject"/>
      </p:transition>
    </mc:Choice>
    <mc:Fallback xmlns="">
      <p:transition spd="slow" advTm="64781">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CONCLUSIONS</a:t>
            </a:r>
            <a:endParaRPr dirty="0"/>
          </a:p>
        </p:txBody>
      </p:sp>
      <p:sp>
        <p:nvSpPr>
          <p:cNvPr id="231" name="Google Shape;231;p1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r>
              <a:rPr lang="en-US" b="1" dirty="0"/>
              <a:t>Institutionalize SEI CERT C++:</a:t>
            </a:r>
            <a:r>
              <a:rPr lang="en-US" dirty="0"/>
              <a:t> Transition from "implicit" developer practices to a formal, mandatory adherence to established coding standards (e.g., INT, MEM, STR).</a:t>
            </a:r>
          </a:p>
          <a:p>
            <a:r>
              <a:rPr lang="en-US" b="1" dirty="0"/>
              <a:t>Maintain the </a:t>
            </a:r>
            <a:r>
              <a:rPr lang="en-US" b="1" dirty="0" err="1"/>
              <a:t>DevSecOps</a:t>
            </a:r>
            <a:r>
              <a:rPr lang="en-US" b="1" dirty="0"/>
              <a:t> Loop:</a:t>
            </a:r>
            <a:r>
              <a:rPr lang="en-US" dirty="0"/>
              <a:t> Ensure the automated CI/CD pipeline remains the "source of truth" for security gates, preventing future vulnerability regressions.</a:t>
            </a:r>
          </a:p>
          <a:p>
            <a:r>
              <a:rPr lang="en-US" b="1" dirty="0"/>
              <a:t>Proactive Security Culture:</a:t>
            </a:r>
            <a:r>
              <a:rPr lang="en-US" dirty="0"/>
              <a:t> Shift the company mindset from reactive patching to proactive, "Shift-Left" security engineering.</a:t>
            </a:r>
          </a:p>
          <a:p>
            <a:r>
              <a:rPr lang="en-US" b="1" dirty="0"/>
              <a:t>Audit Readiness:</a:t>
            </a:r>
            <a:r>
              <a:rPr lang="en-US" dirty="0"/>
              <a:t> By adopting these standards today, Green Pace ensures 100% compliance for all future security and regulatory audits.</a:t>
            </a:r>
          </a:p>
          <a:p>
            <a:pPr marL="228600" lvl="0" indent="-88900" algn="l" rtl="0">
              <a:lnSpc>
                <a:spcPct val="90000"/>
              </a:lnSpc>
              <a:spcBef>
                <a:spcPts val="1000"/>
              </a:spcBef>
              <a:spcAft>
                <a:spcPts val="0"/>
              </a:spcAft>
              <a:buClr>
                <a:schemeClr val="lt1"/>
              </a:buClr>
              <a:buSzPts val="2200"/>
              <a:buNone/>
            </a:pPr>
            <a:endParaRPr dirty="0"/>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48671">
        <p159:morph option="byObject"/>
      </p:transition>
    </mc:Choice>
    <mc:Fallback xmlns="">
      <p:transition spd="slow" advTm="48671">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REFERENCES</a:t>
            </a:r>
            <a:endParaRPr dirty="0"/>
          </a:p>
        </p:txBody>
      </p:sp>
      <p:sp>
        <p:nvSpPr>
          <p:cNvPr id="238" name="Google Shape;238;p14"/>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r>
              <a:rPr lang="en-US" dirty="0"/>
              <a:t>Carnegie Mellon University. (n.d.). </a:t>
            </a:r>
            <a:r>
              <a:rPr lang="en-US" i="1" dirty="0"/>
              <a:t>SEI CERT C++ coding standard</a:t>
            </a:r>
            <a:r>
              <a:rPr lang="en-US" dirty="0"/>
              <a:t>. Software Engineering Institute. </a:t>
            </a:r>
            <a:r>
              <a:rPr lang="en-US" dirty="0">
                <a:hlinkClick r:id="rId4"/>
              </a:rPr>
              <a:t>https://wiki.sei.cmu.edu/confluence/display/cplusplus</a:t>
            </a:r>
            <a:endParaRPr lang="en-US" dirty="0"/>
          </a:p>
          <a:p>
            <a:r>
              <a:rPr lang="en-US" dirty="0"/>
              <a:t>Microsoft. (2023). </a:t>
            </a:r>
            <a:r>
              <a:rPr lang="en-US" i="1" dirty="0"/>
              <a:t>Unit testing C++ in Visual Studio</a:t>
            </a:r>
            <a:r>
              <a:rPr lang="en-US" dirty="0"/>
              <a:t>. Microsoft Learn. </a:t>
            </a:r>
            <a:r>
              <a:rPr lang="en-US" dirty="0">
                <a:hlinkClick r:id="rId5"/>
              </a:rPr>
              <a:t>https://learn.microsoft.com/en-us/visualstudio/test/unit-testing-cpp-with-visual-cpp</a:t>
            </a:r>
            <a:endParaRPr lang="en-US" dirty="0"/>
          </a:p>
          <a:p>
            <a:r>
              <a:rPr lang="en-US" dirty="0"/>
              <a:t>OWASP Foundation. (2021). </a:t>
            </a:r>
            <a:r>
              <a:rPr lang="en-US" i="1" dirty="0"/>
              <a:t>OWASP Top 10:2021</a:t>
            </a:r>
            <a:r>
              <a:rPr lang="en-US" dirty="0"/>
              <a:t>. </a:t>
            </a:r>
            <a:r>
              <a:rPr lang="en-US" dirty="0">
                <a:hlinkClick r:id="rId6"/>
              </a:rPr>
              <a:t>https://owasp.org/www-project-top-ten/</a:t>
            </a:r>
            <a:endParaRPr lang="en-US" dirty="0"/>
          </a:p>
          <a:p>
            <a:r>
              <a:rPr lang="en-US" dirty="0"/>
              <a:t>Southern New Hampshire University. (2024). </a:t>
            </a:r>
            <a:r>
              <a:rPr lang="en-US" i="1" dirty="0"/>
              <a:t>CS 405: Secure coding</a:t>
            </a:r>
            <a:r>
              <a:rPr lang="en-US" dirty="0"/>
              <a:t>. Course Guidelines and Rubrics.</a:t>
            </a:r>
          </a:p>
          <a:p>
            <a:r>
              <a:rPr lang="en-US" sz="1300" i="1" dirty="0"/>
              <a:t>AI Disclosure: Generative AI (Gemini) was used during the creation of this presentation to assist with structuring slide content, formatting visual layouts, and refining draft speaker scripts. All core C++ code, unit testing, and security policy concepts represent my original work.</a:t>
            </a:r>
          </a:p>
        </p:txBody>
      </p:sp>
      <p:pic>
        <p:nvPicPr>
          <p:cNvPr id="239" name="Google Shape;239;p14" descr="Green Pace logo"/>
          <p:cNvPicPr preferRelativeResize="0"/>
          <p:nvPr/>
        </p:nvPicPr>
        <p:blipFill>
          <a:blip r:embed="rId7">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54524">
        <p159:morph option="byObject"/>
      </p:transition>
    </mc:Choice>
    <mc:Fallback xmlns="">
      <p:transition spd="slow" advTm="54524">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customXml/itemProps3.xml><?xml version="1.0" encoding="utf-8"?>
<ds:datastoreItem xmlns:ds="http://schemas.openxmlformats.org/officeDocument/2006/customXml" ds:itemID="{F398236C-7FA9-40C9-B456-AA158A506A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1512</TotalTime>
  <Words>1448</Words>
  <Application>Microsoft Office PowerPoint</Application>
  <PresentationFormat>Widescreen</PresentationFormat>
  <Paragraphs>116</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Century Gothic</vt:lpstr>
      <vt:lpstr>Arial</vt:lpstr>
      <vt:lpstr>Vapor Trail</vt:lpstr>
      <vt:lpstr>Green Pace</vt:lpstr>
      <vt:lpstr>OVERVIEW: DEFENSE IN DEPTH</vt:lpstr>
      <vt:lpstr>THREATS MATRIX</vt:lpstr>
      <vt:lpstr>10 PRINCIPLES</vt:lpstr>
      <vt:lpstr>CODING STANDARDS</vt:lpstr>
      <vt:lpstr>ENCRYPTION POLICIES</vt:lpstr>
      <vt:lpstr>TRIPLE-A POLICIES</vt:lpstr>
      <vt:lpstr>Does the system safely process valid integer addition?</vt:lpstr>
      <vt:lpstr>Does the system safely process negative integer addition?</vt:lpstr>
      <vt:lpstr>Does the system catch an Integer Overflow?</vt:lpstr>
      <vt:lpstr>Does the system catch an Integer Underflow?</vt:lpstr>
      <vt:lpstr>AUTOMATION SUMMARY</vt:lpstr>
      <vt:lpstr>TOOLS</vt:lpstr>
      <vt:lpstr>RISKS AND BENEFITS of DevSpecOps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Caleb Sorell</cp:lastModifiedBy>
  <cp:revision>7</cp:revision>
  <dcterms:created xsi:type="dcterms:W3CDTF">2020-08-19T17:59:24Z</dcterms:created>
  <dcterms:modified xsi:type="dcterms:W3CDTF">2026-06-22T19:23:18Z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